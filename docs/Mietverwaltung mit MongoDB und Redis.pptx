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48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4633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30 Sekunden. Begrüßung. Thema: ein System zur Verwaltung von Mietimmobilien, gebaut auf MongoDB als Document Store und Redis als Cache. Die Leitfrage ist nicht nur, ob es funktioniert, sondern warum NoSQL hier passt und was es gegenüber SQL kostet. Vorher prüfen: Docker läuft, im Labor einmal "Demo-Stand wiederherstellen" geklickt, Browser-Tab mit localhost:8000 offen.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1 Minute. Ich verwalte selbst Mietobjekte, daher kenne ich die Daten: Ein Objekt ist mal eine einzelne Wohnung, mal ein Haus mit Garagen und Laden. Ein Vertrag hat eine Geschichte und Protokolle. Vorgänge sehen je nach Art völlig anders aus. Das sind von Natur aus Dokumente. Aber: Mieter, Verträge und Einheiten hängen auch relational zusammen. Deshalb die Leitfrage mit beiden Seiten.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1 Minute. Die App ist eine FastAPI-Anwendung. MongoDB läuft als Replica Set mit drei Knoten, damit ich Replikation und Failover wirklich zeigen kann, nicht nur erklären. mongo1 hat die höchste Priorität und ist normalerweise Primary. Redis sitzt daneben als Cache für die teuren Auswertungen. Die Daten kommen aus zwei Quellen: echte Inserate und ein Generator für Personendaten. Alles läuft lokal in Docker.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45 Sekunden. Die Anforderung war: über 1.000, besser 10.000 Datensätze, möglichst echt. Echt sind die Inserate: 16.040 aus Baden-Württemberg. Wichtig für das Thema: Kein Inserat ist vollständig. Energieklasse fehlt bei 75 Prozent, Baujahr bei 26 Prozent. In MongoDB fehlt dann einfach das Feld. Personendaten habe ich bewusst generiert, Stichwort DSGVO.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1 Minute. Das ist der Kern der Modellierung. Links ein Vertrag, so wie er in MongoDB liegt: Mietanpassungen und Übergabeprotokoll stecken im Dokument. Relational wären das fünf Tabellen. Die Regel: einbetten, was zusammen gelesen wird; referenzieren, was eigenständig existiert. Und ich habe bewusst denormalisiert: Der Mietername steht als Kopie im Vertrag. Das ist schnell, hat aber einen Preis. Den zeige ich gleich live. Zusätzlich hat jede Collection einen $jsonSchema-Validator.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3 Minuten, in den Browser wechseln (Tab 1, Zoom 125 %, Spur an). 1) Übersicht: Statusleiste oben rechts zeigen, sie wird beim Failover wichtig. "Neu berechnen" klicken (aus MongoDB, ca. 200 ms), dann Seite neu laden (aus Redis, unter 1 ms). Spur-Zeile unter "Bestandsmiete und Angebotsmiete je Kreis" zeigen: vier Collections, $lookup, $facet, $median. 2) Objekte: Typ-Filter "Wohn- und Geschäftshaus". In der Zeile WGH Kernerstr 14 die Quadrate (eingebettete Einheiten) und den Strich beim Baujahr (Feld fehlt im echten Inserat) zeigen. 3) WGH Kernerstr 14 anklicken: Arztpraxis L01, acht Wohnungen, zwei Garagen, also drei der vier Einheitentypen in einem Dokument. 4) Einheit W05 anklicken: Indexmiete mit sechs Anpassungen, Übergabeprotokoll, Marktvergleich. Umschalter "Dokument": genau dieses Dokument liefert ein Lesezugriff, relational fünf Tabellen und vier Joins; mieter_namen als bewusste Kopie zeigen. 5) Nur bei Zeit (vor 6:30): Markt, ein Inserat aufklappen, gestrichelte Chips = Feld fehlt.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5 Minuten. Reihenfolge nach Wirkung, nicht nach Nummer. 1) FAILOVER ZUERST: "Primary abschalten" klicken und erklären, während die Uhr läuft: kill wie ein Absturz, nach 10 s ohne Herzschlag wählen die anderen neu, Mehrheit 2 von 3, so lange keine Schreibzugriffe (CP). Ergebnis vorlesen: neuer Primary nach rund 10 s, Schreiben ohne App-Neustart. Jetzt NICHT "Knoten wieder starten". 2) KONSISTENZ: erst w: majority + primary (0 veraltet), dann w: 1 + secondary (fast alle veraltet). CAP zum Anfassen. majority + secondary nicht zeigen: Mit zwei Knoten kommt dort 0 heraus (Mehrheit = beide), mit drei Knoten rund 30 % veraltet. 3) CACHE: zweimal messen, dann Invalidierung aus und "Schaden anlegen, neu lesen": Dashboard zeigt 89 statt 90. Danach Invalidierung wieder an! 4) TRANSAKTION mit Abbruch: Schritte 1 bis 3 rot durchgestrichen, nichts gespeichert. Bei Zeit (vor 10:30) "Code zeigen": with_transaction und raise SimulierterFehler. 5) Wenn Zeit: Kopien (Häkchen aus, Nachname ändern). Index und Schema nur auf Nachfrage. 6) Am Ende "Knoten wieder starten", dann zu Folie 8; mongo1 ist nach ca. 15 bis 20 s wieder Primary.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30 Sekunden. Zusammenfassung der Live-Ergebnisse. Falls die Live-Demo hakt, ist das die Ersatzfolie mit den Werten aus dem Testlauf. Live können die Zahlen leicht abweichen, die Größenordnung bleibt. Wichtigste Aussage: Konsistenz ist bei MongoDB einstellbar, und die falsche Einstellung merkt man nicht, außer man misst.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1,5 Minuten. Ehrliche Bilanz: MongoDB gewinnt bei Struktur und Betrieb, SQL bei Integrität und Auswertung. Beispiele aus der Demo: Die Namenskopie musste ich selbst pflegen, in SQL gäbe es sie nicht. Das Dashboard über vier Collections ist die teuerste Abfrage, deshalb liegt es im Redis-Cache. Entscheidend ist, was im Alltag einer Verwaltung überwiegt: ein Objekt öffnen, einen Vertrag ansehen. Das ist ein Zugriff auf ein Dokument.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1 Minute. Antwort auf die Leitfrage: Ja, ein Document Store passt, weil die Kerndaten Dokumente sind. Aber nicht kostenlos: Integrität, Kopien und Auswertungen muss die Anwendung tragen. Empfehlung: MongoDB für den operativen Kern, Redis für teure Auswertungen, und ein relationales oder analytisches System daneben, sobald Berichte wichtiger werden. Polyglot Persistence. Dann Fragen.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7514C"/>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20"/>
            <a:ext cx="10566400" cy="4460280"/>
          </a:xfrm>
          <a:prstGeom prst="rect">
            <a:avLst/>
          </a:prstGeom>
          <a:noFill/>
          <a:ln/>
        </p:spPr>
        <p:txBody>
          <a:bodyPr wrap="square" lIns="0" tIns="0" rIns="0" bIns="0" rtlCol="0" anchor="t"/>
          <a:lstStyle>
            <a:lvl1pPr marL="0" indent="0" algn="l">
              <a:lnSpc>
                <a:spcPct val="140000"/>
              </a:lnSpc>
              <a:buNone/>
              <a:defRPr lang="en-US" sz="1600" dirty="0">
                <a:solidFill>
                  <a:srgbClr val="17514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40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9FC3BC"/>
                </a:solidFill>
                <a:latin typeface="IBM Plex Sans" pitchFamily="34" charset="0"/>
                <a:ea typeface="IBM Plex Sans" pitchFamily="34" charset="-122"/>
                <a:cs typeface="IBM Plex Sans" pitchFamily="34" charset="-120"/>
              </a:rPr>
              <a:t>MODUL NOSQL-DATENBANKEN · HOCHSCHULE REUTLINGEN</a:t>
            </a:r>
            <a:endParaRPr lang="en-US" sz="1400" dirty="0"/>
          </a:p>
        </p:txBody>
      </p:sp>
      <p:sp>
        <p:nvSpPr>
          <p:cNvPr id="3" name="Text 1"/>
          <p:cNvSpPr>
            <a:spLocks noGrp="1"/>
          </p:cNvSpPr>
          <p:nvPr>
            <p:ph type="title"/>
          </p:nvPr>
        </p:nvSpPr>
        <p:spPr>
          <a:xfrm>
            <a:off x="812800" y="2383830"/>
            <a:ext cx="10883392" cy="1518841"/>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E"/>
                </a:solidFill>
                <a:latin typeface="IBM Plex Sans" pitchFamily="34" charset="0"/>
                <a:ea typeface="IBM Plex Sans" pitchFamily="34" charset="-122"/>
                <a:cs typeface="IBM Plex Sans" pitchFamily="34" charset="-120"/>
              </a:rPr>
              <a:t>Mietverwaltung mit MongoDB und Redis</a:t>
            </a:r>
            <a:endParaRPr lang="en-US" sz="5600" dirty="0"/>
          </a:p>
        </p:txBody>
      </p:sp>
      <p:sp>
        <p:nvSpPr>
          <p:cNvPr id="4" name="Text 2"/>
          <p:cNvSpPr/>
          <p:nvPr/>
        </p:nvSpPr>
        <p:spPr>
          <a:xfrm>
            <a:off x="812800" y="4131270"/>
            <a:ext cx="10883392" cy="3683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9DAD6"/>
                </a:solidFill>
                <a:latin typeface="IBM Plex Sans" pitchFamily="34" charset="0"/>
                <a:ea typeface="IBM Plex Sans" pitchFamily="34" charset="-122"/>
                <a:cs typeface="IBM Plex Sans" pitchFamily="34" charset="-120"/>
              </a:rPr>
              <a:t>Warum ein Document Store zu Mietimmobilien passt und was er kostet</a:t>
            </a:r>
            <a:endParaRPr lang="en-US" sz="2000" dirty="0"/>
          </a:p>
        </p:txBody>
      </p:sp>
      <p:sp>
        <p:nvSpPr>
          <p:cNvPr id="5" name="Text 3"/>
          <p:cNvSpPr/>
          <p:nvPr/>
        </p:nvSpPr>
        <p:spPr>
          <a:xfrm>
            <a:off x="812800" y="579631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AD6"/>
                </a:solidFill>
                <a:latin typeface="IBM Plex Sans" pitchFamily="34" charset="0"/>
                <a:ea typeface="IBM Plex Sans" pitchFamily="34" charset="-122"/>
                <a:cs typeface="IBM Plex Sans" pitchFamily="34" charset="-120"/>
              </a:rPr>
              <a:t>Jiyan Barut · 14.10.2026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7514C"/>
                </a:solidFill>
                <a:latin typeface="IBM Plex Sans" pitchFamily="34" charset="0"/>
                <a:ea typeface="IBM Plex Sans" pitchFamily="34" charset="-122"/>
                <a:cs typeface="IBM Plex Sans" pitchFamily="34" charset="-120"/>
              </a:rPr>
              <a:t>DER ANWENDUNGSFALL</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514C"/>
                </a:solidFill>
                <a:latin typeface="IBM Plex Sans" pitchFamily="34" charset="0"/>
                <a:ea typeface="IBM Plex Sans" pitchFamily="34" charset="-122"/>
                <a:cs typeface="IBM Plex Sans" pitchFamily="34" charset="-120"/>
              </a:rPr>
              <a:t>Die Mietverwaltung besteht aus Dokumenten</a:t>
            </a:r>
            <a:endParaRPr lang="en-US" sz="3200" dirty="0"/>
          </a:p>
        </p:txBody>
      </p:sp>
      <p:sp>
        <p:nvSpPr>
          <p:cNvPr id="4" name="Shape 2"/>
          <p:cNvSpPr/>
          <p:nvPr/>
        </p:nvSpPr>
        <p:spPr>
          <a:xfrm>
            <a:off x="815975" y="2047875"/>
            <a:ext cx="3380284" cy="2520950"/>
          </a:xfrm>
          <a:prstGeom prst="roundRect">
            <a:avLst>
              <a:gd name="adj" fmla="val 882"/>
            </a:avLst>
          </a:prstGeom>
          <a:solidFill>
            <a:srgbClr val="FBFAF7"/>
          </a:solidFill>
          <a:ln w="6350">
            <a:solidFill>
              <a:srgbClr val="CDDCD8"/>
            </a:solidFill>
            <a:prstDash val="solid"/>
          </a:ln>
        </p:spPr>
        <p:txBody>
          <a:bodyPr/>
          <a:lstStyle/>
          <a:p>
            <a:endParaRPr lang="de-DE"/>
          </a:p>
        </p:txBody>
      </p:sp>
      <p:sp>
        <p:nvSpPr>
          <p:cNvPr id="5" name="Text 3"/>
          <p:cNvSpPr/>
          <p:nvPr/>
        </p:nvSpPr>
        <p:spPr>
          <a:xfrm>
            <a:off x="1073150" y="2305050"/>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2221"/>
                </a:solidFill>
                <a:latin typeface="IBM Plex Sans" pitchFamily="34" charset="0"/>
                <a:ea typeface="IBM Plex Sans" pitchFamily="34" charset="-122"/>
                <a:cs typeface="IBM Plex Sans" pitchFamily="34" charset="-120"/>
              </a:rPr>
              <a:t>Objekte</a:t>
            </a:r>
            <a:endParaRPr lang="en-US" sz="2000" dirty="0"/>
          </a:p>
        </p:txBody>
      </p:sp>
      <p:sp>
        <p:nvSpPr>
          <p:cNvPr id="6" name="Text 4"/>
          <p:cNvSpPr/>
          <p:nvPr/>
        </p:nvSpPr>
        <p:spPr>
          <a:xfrm>
            <a:off x="1073150" y="2711450"/>
            <a:ext cx="2951912" cy="16256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Eigentumswohnung, Mehrfamilienhaus, Wohn- und Geschäftshaus. Darin Wohnungen, Garagen, Stellplätze, Gewerbe: jede Art mit eigenen Angaben.</a:t>
            </a:r>
            <a:endParaRPr lang="en-US" sz="1500" dirty="0"/>
          </a:p>
        </p:txBody>
      </p:sp>
      <p:sp>
        <p:nvSpPr>
          <p:cNvPr id="7" name="Shape 5"/>
          <p:cNvSpPr/>
          <p:nvPr/>
        </p:nvSpPr>
        <p:spPr>
          <a:xfrm>
            <a:off x="4405809" y="2047875"/>
            <a:ext cx="3380333" cy="2520950"/>
          </a:xfrm>
          <a:prstGeom prst="roundRect">
            <a:avLst>
              <a:gd name="adj" fmla="val 882"/>
            </a:avLst>
          </a:prstGeom>
          <a:solidFill>
            <a:srgbClr val="FBFAF7"/>
          </a:solidFill>
          <a:ln w="6350">
            <a:solidFill>
              <a:srgbClr val="CDDCD8"/>
            </a:solidFill>
            <a:prstDash val="solid"/>
          </a:ln>
        </p:spPr>
        <p:txBody>
          <a:bodyPr/>
          <a:lstStyle/>
          <a:p>
            <a:endParaRPr lang="de-DE"/>
          </a:p>
        </p:txBody>
      </p:sp>
      <p:sp>
        <p:nvSpPr>
          <p:cNvPr id="8" name="Text 6"/>
          <p:cNvSpPr/>
          <p:nvPr/>
        </p:nvSpPr>
        <p:spPr>
          <a:xfrm>
            <a:off x="4662984" y="2305050"/>
            <a:ext cx="295196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2221"/>
                </a:solidFill>
                <a:latin typeface="IBM Plex Sans" pitchFamily="34" charset="0"/>
                <a:ea typeface="IBM Plex Sans" pitchFamily="34" charset="-122"/>
                <a:cs typeface="IBM Plex Sans" pitchFamily="34" charset="-120"/>
              </a:rPr>
              <a:t>Verträge</a:t>
            </a:r>
            <a:endParaRPr lang="en-US" sz="2000" dirty="0"/>
          </a:p>
        </p:txBody>
      </p:sp>
      <p:sp>
        <p:nvSpPr>
          <p:cNvPr id="9" name="Text 7"/>
          <p:cNvSpPr/>
          <p:nvPr/>
        </p:nvSpPr>
        <p:spPr>
          <a:xfrm>
            <a:off x="4662984" y="2711450"/>
            <a:ext cx="2951963"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Mietanpassungen über Jahre, Übergabeprotokolle mit Räumen, Mängeln, Zählerständen und Schlüsseln.</a:t>
            </a:r>
            <a:endParaRPr lang="en-US" sz="1500" dirty="0"/>
          </a:p>
        </p:txBody>
      </p:sp>
      <p:sp>
        <p:nvSpPr>
          <p:cNvPr id="10" name="Shape 8"/>
          <p:cNvSpPr/>
          <p:nvPr/>
        </p:nvSpPr>
        <p:spPr>
          <a:xfrm>
            <a:off x="7995692" y="2047875"/>
            <a:ext cx="3380333" cy="2520950"/>
          </a:xfrm>
          <a:prstGeom prst="roundRect">
            <a:avLst>
              <a:gd name="adj" fmla="val 882"/>
            </a:avLst>
          </a:prstGeom>
          <a:solidFill>
            <a:srgbClr val="FBFAF7"/>
          </a:solidFill>
          <a:ln w="6350">
            <a:solidFill>
              <a:srgbClr val="CDDCD8"/>
            </a:solidFill>
            <a:prstDash val="solid"/>
          </a:ln>
        </p:spPr>
        <p:txBody>
          <a:bodyPr/>
          <a:lstStyle/>
          <a:p>
            <a:endParaRPr lang="de-DE"/>
          </a:p>
        </p:txBody>
      </p:sp>
      <p:sp>
        <p:nvSpPr>
          <p:cNvPr id="11" name="Text 9"/>
          <p:cNvSpPr/>
          <p:nvPr/>
        </p:nvSpPr>
        <p:spPr>
          <a:xfrm>
            <a:off x="8252867" y="2305050"/>
            <a:ext cx="295196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2221"/>
                </a:solidFill>
                <a:latin typeface="IBM Plex Sans" pitchFamily="34" charset="0"/>
                <a:ea typeface="IBM Plex Sans" pitchFamily="34" charset="-122"/>
                <a:cs typeface="IBM Plex Sans" pitchFamily="34" charset="-120"/>
              </a:rPr>
              <a:t>Vorgänge</a:t>
            </a:r>
            <a:endParaRPr lang="en-US" sz="2000" dirty="0"/>
          </a:p>
        </p:txBody>
      </p:sp>
      <p:sp>
        <p:nvSpPr>
          <p:cNvPr id="12" name="Text 10"/>
          <p:cNvSpPr/>
          <p:nvPr/>
        </p:nvSpPr>
        <p:spPr>
          <a:xfrm>
            <a:off x="8252867" y="2711450"/>
            <a:ext cx="2951963"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Schaden, Mietminderung, Kündigung, Korrespondenz, Frist: jeder Typ braucht andere Felder.</a:t>
            </a:r>
            <a:endParaRPr lang="en-US" sz="1500" dirty="0"/>
          </a:p>
        </p:txBody>
      </p:sp>
      <p:sp>
        <p:nvSpPr>
          <p:cNvPr id="13" name="Text 11"/>
          <p:cNvSpPr/>
          <p:nvPr/>
        </p:nvSpPr>
        <p:spPr>
          <a:xfrm>
            <a:off x="812800" y="5021659"/>
            <a:ext cx="10566400" cy="1023541"/>
          </a:xfrm>
          <a:prstGeom prst="roundRect">
            <a:avLst>
              <a:gd name="adj" fmla="val 2482"/>
            </a:avLst>
          </a:prstGeom>
          <a:solidFill>
            <a:srgbClr val="DCE8E5"/>
          </a:solidFill>
          <a:ln/>
        </p:spPr>
        <p:txBody>
          <a:bodyPr wrap="square" lIns="246561" tIns="195761" rIns="0" bIns="170361" rtlCol="0" anchor="t">
            <a:normAutofit/>
          </a:bodyPr>
          <a:lstStyle/>
          <a:p>
            <a:pPr marL="0" indent="0" algn="l">
              <a:lnSpc>
                <a:spcPts val="2430"/>
              </a:lnSpc>
              <a:buNone/>
            </a:pPr>
            <a:r>
              <a:rPr lang="en-US" sz="1800" b="1" dirty="0">
                <a:solidFill>
                  <a:srgbClr val="10403C"/>
                </a:solidFill>
                <a:latin typeface="IBM Plex Sans" pitchFamily="34" charset="0"/>
                <a:ea typeface="IBM Plex Sans" pitchFamily="34" charset="-122"/>
                <a:cs typeface="IBM Plex Sans" pitchFamily="34" charset="-120"/>
              </a:rPr>
              <a:t>Leitfrage:</a:t>
            </a:r>
            <a:r>
              <a:rPr lang="en-US" sz="1800" dirty="0">
                <a:solidFill>
                  <a:srgbClr val="10403C"/>
                </a:solidFill>
                <a:latin typeface="IBM Plex Sans" pitchFamily="34" charset="0"/>
                <a:ea typeface="IBM Plex Sans" pitchFamily="34" charset="-122"/>
                <a:cs typeface="IBM Plex Sans" pitchFamily="34" charset="-120"/>
              </a:rPr>
              <a:t> Warum eignet sich ein Document Store dafür, und was kostet er gegenüber einer relationalen Datenbank?</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514C"/>
                </a:solidFill>
                <a:latin typeface="IBM Plex Sans" pitchFamily="34" charset="0"/>
                <a:ea typeface="IBM Plex Sans" pitchFamily="34" charset="-122"/>
                <a:cs typeface="IBM Plex Sans" pitchFamily="34" charset="-120"/>
              </a:rPr>
              <a:t>Eine App, zwei NoSQL-Systeme</a:t>
            </a:r>
            <a:endParaRPr lang="en-US" sz="3200" dirty="0"/>
          </a:p>
        </p:txBody>
      </p:sp>
      <p:sp>
        <p:nvSpPr>
          <p:cNvPr id="3" name="Shape 1"/>
          <p:cNvSpPr/>
          <p:nvPr/>
        </p:nvSpPr>
        <p:spPr>
          <a:xfrm>
            <a:off x="819150" y="1667470"/>
            <a:ext cx="1892300" cy="812800"/>
          </a:xfrm>
          <a:prstGeom prst="roundRect">
            <a:avLst>
              <a:gd name="adj" fmla="val 5469"/>
            </a:avLst>
          </a:prstGeom>
          <a:solidFill>
            <a:srgbClr val="FBFAF7"/>
          </a:solidFill>
          <a:ln w="12700">
            <a:solidFill>
              <a:srgbClr val="9AA6A4"/>
            </a:solidFill>
            <a:prstDash val="solid"/>
          </a:ln>
        </p:spPr>
        <p:txBody>
          <a:bodyPr/>
          <a:lstStyle/>
          <a:p>
            <a:endParaRPr lang="de-DE"/>
          </a:p>
        </p:txBody>
      </p:sp>
      <p:sp>
        <p:nvSpPr>
          <p:cNvPr id="4" name="Text 2"/>
          <p:cNvSpPr/>
          <p:nvPr/>
        </p:nvSpPr>
        <p:spPr>
          <a:xfrm>
            <a:off x="1293277" y="1812280"/>
            <a:ext cx="944047"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E2221"/>
                </a:solidFill>
                <a:latin typeface="IBM Plex Sans" pitchFamily="34" charset="0"/>
                <a:ea typeface="IBM Plex Sans" pitchFamily="34" charset="-122"/>
                <a:cs typeface="IBM Plex Sans" pitchFamily="34" charset="-120"/>
              </a:rPr>
              <a:t>Browser</a:t>
            </a:r>
            <a:endParaRPr lang="en-US" sz="1600" dirty="0"/>
          </a:p>
        </p:txBody>
      </p:sp>
      <p:sp>
        <p:nvSpPr>
          <p:cNvPr id="5" name="Text 3"/>
          <p:cNvSpPr/>
          <p:nvPr/>
        </p:nvSpPr>
        <p:spPr>
          <a:xfrm>
            <a:off x="1072778" y="2122140"/>
            <a:ext cx="138499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05E"/>
                </a:solidFill>
                <a:latin typeface="IBM Plex Sans" pitchFamily="34" charset="0"/>
                <a:ea typeface="IBM Plex Sans" pitchFamily="34" charset="-122"/>
                <a:cs typeface="IBM Plex Sans" pitchFamily="34" charset="-120"/>
              </a:rPr>
              <a:t>Seiten und Labor</a:t>
            </a:r>
            <a:endParaRPr lang="en-US" sz="1200" dirty="0"/>
          </a:p>
        </p:txBody>
      </p:sp>
      <p:sp>
        <p:nvSpPr>
          <p:cNvPr id="6" name="Shape 4"/>
          <p:cNvSpPr/>
          <p:nvPr/>
        </p:nvSpPr>
        <p:spPr>
          <a:xfrm>
            <a:off x="4375150" y="1540470"/>
            <a:ext cx="3441700" cy="1066800"/>
          </a:xfrm>
          <a:prstGeom prst="roundRect">
            <a:avLst>
              <a:gd name="adj" fmla="val 4167"/>
            </a:avLst>
          </a:prstGeom>
          <a:solidFill>
            <a:srgbClr val="FBFAF7"/>
          </a:solidFill>
          <a:ln w="12700">
            <a:solidFill>
              <a:srgbClr val="9AA6A4"/>
            </a:solidFill>
            <a:prstDash val="solid"/>
          </a:ln>
        </p:spPr>
        <p:txBody>
          <a:bodyPr/>
          <a:lstStyle/>
          <a:p>
            <a:endParaRPr lang="de-DE"/>
          </a:p>
        </p:txBody>
      </p:sp>
      <p:sp>
        <p:nvSpPr>
          <p:cNvPr id="7" name="Text 5"/>
          <p:cNvSpPr/>
          <p:nvPr/>
        </p:nvSpPr>
        <p:spPr>
          <a:xfrm>
            <a:off x="5373053" y="1692920"/>
            <a:ext cx="1445895"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E2221"/>
                </a:solidFill>
                <a:latin typeface="IBM Plex Sans" pitchFamily="34" charset="0"/>
                <a:ea typeface="IBM Plex Sans" pitchFamily="34" charset="-122"/>
                <a:cs typeface="IBM Plex Sans" pitchFamily="34" charset="-120"/>
              </a:rPr>
              <a:t>FastAPI-App</a:t>
            </a:r>
            <a:endParaRPr lang="en-US" sz="1600" dirty="0"/>
          </a:p>
        </p:txBody>
      </p:sp>
      <p:sp>
        <p:nvSpPr>
          <p:cNvPr id="8" name="Text 6"/>
          <p:cNvSpPr/>
          <p:nvPr/>
        </p:nvSpPr>
        <p:spPr>
          <a:xfrm>
            <a:off x="4890611" y="2002780"/>
            <a:ext cx="241077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05E"/>
                </a:solidFill>
                <a:latin typeface="IBM Plex Sans" pitchFamily="34" charset="0"/>
                <a:ea typeface="IBM Plex Sans" pitchFamily="34" charset="-122"/>
                <a:cs typeface="IBM Plex Sans" pitchFamily="34" charset="-120"/>
              </a:rPr>
              <a:t>Seiten (Jinja2) und JSON-API</a:t>
            </a:r>
            <a:endParaRPr lang="en-US" sz="1200" dirty="0"/>
          </a:p>
        </p:txBody>
      </p:sp>
      <p:sp>
        <p:nvSpPr>
          <p:cNvPr id="9" name="Text 7"/>
          <p:cNvSpPr/>
          <p:nvPr/>
        </p:nvSpPr>
        <p:spPr>
          <a:xfrm>
            <a:off x="5051465" y="2241500"/>
            <a:ext cx="2089071"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05E"/>
                </a:solidFill>
                <a:latin typeface="IBM Plex Sans" pitchFamily="34" charset="0"/>
                <a:ea typeface="IBM Plex Sans" pitchFamily="34" charset="-122"/>
                <a:cs typeface="IBM Plex Sans" pitchFamily="34" charset="-120"/>
              </a:rPr>
              <a:t>Python 3.12 im Container</a:t>
            </a:r>
            <a:endParaRPr lang="en-US" sz="1200" dirty="0"/>
          </a:p>
        </p:txBody>
      </p:sp>
      <p:sp>
        <p:nvSpPr>
          <p:cNvPr id="10" name="Text 8"/>
          <p:cNvSpPr/>
          <p:nvPr/>
        </p:nvSpPr>
        <p:spPr>
          <a:xfrm>
            <a:off x="819150" y="3064470"/>
            <a:ext cx="6997700" cy="1511300"/>
          </a:xfrm>
          <a:prstGeom prst="roundRect">
            <a:avLst>
              <a:gd name="adj" fmla="val 2941"/>
            </a:avLst>
          </a:prstGeom>
          <a:solidFill>
            <a:srgbClr val="EEF4F2"/>
          </a:solidFill>
          <a:ln w="12700">
            <a:solidFill>
              <a:srgbClr val="9AA6A4"/>
            </a:solidFill>
            <a:prstDash val="solid"/>
          </a:ln>
        </p:spPr>
        <p:txBody>
          <a:bodyPr wrap="square" lIns="196531" tIns="120331" rIns="0" bIns="120331" rtlCol="0" anchor="t">
            <a:normAutofit/>
          </a:bodyPr>
          <a:lstStyle/>
          <a:p>
            <a:pPr marL="0" indent="0" algn="l">
              <a:lnSpc>
                <a:spcPts val="1960"/>
              </a:lnSpc>
              <a:buNone/>
            </a:pPr>
            <a:r>
              <a:rPr lang="en-US" sz="1400" b="1" dirty="0">
                <a:solidFill>
                  <a:srgbClr val="17514C"/>
                </a:solidFill>
                <a:latin typeface="IBM Plex Sans" pitchFamily="34" charset="0"/>
                <a:ea typeface="IBM Plex Sans" pitchFamily="34" charset="-122"/>
                <a:cs typeface="IBM Plex Sans" pitchFamily="34" charset="-120"/>
              </a:rPr>
              <a:t>Replica Set rs0 · Replikation über das Oplog</a:t>
            </a:r>
            <a:endParaRPr lang="en-US" sz="1400" dirty="0"/>
          </a:p>
        </p:txBody>
      </p:sp>
      <p:sp>
        <p:nvSpPr>
          <p:cNvPr id="11" name="Shape 9"/>
          <p:cNvSpPr/>
          <p:nvPr/>
        </p:nvSpPr>
        <p:spPr>
          <a:xfrm>
            <a:off x="1025525" y="3550245"/>
            <a:ext cx="2076450" cy="844550"/>
          </a:xfrm>
          <a:prstGeom prst="roundRect">
            <a:avLst>
              <a:gd name="adj" fmla="val 4887"/>
            </a:avLst>
          </a:prstGeom>
          <a:solidFill>
            <a:srgbClr val="DCE8E5"/>
          </a:solidFill>
          <a:ln w="19050">
            <a:solidFill>
              <a:srgbClr val="17514C"/>
            </a:solidFill>
            <a:prstDash val="solid"/>
          </a:ln>
        </p:spPr>
        <p:txBody>
          <a:bodyPr/>
          <a:lstStyle/>
          <a:p>
            <a:endParaRPr lang="de-DE"/>
          </a:p>
        </p:txBody>
      </p:sp>
      <p:sp>
        <p:nvSpPr>
          <p:cNvPr id="12" name="Text 10"/>
          <p:cNvSpPr/>
          <p:nvPr/>
        </p:nvSpPr>
        <p:spPr>
          <a:xfrm>
            <a:off x="1607741" y="3710930"/>
            <a:ext cx="912019"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E2221"/>
                </a:solidFill>
                <a:latin typeface="IBM Plex Sans" pitchFamily="34" charset="0"/>
                <a:ea typeface="IBM Plex Sans" pitchFamily="34" charset="-122"/>
                <a:cs typeface="IBM Plex Sans" pitchFamily="34" charset="-120"/>
              </a:rPr>
              <a:t>mongo1</a:t>
            </a:r>
            <a:endParaRPr lang="en-US" sz="1600" dirty="0"/>
          </a:p>
        </p:txBody>
      </p:sp>
      <p:sp>
        <p:nvSpPr>
          <p:cNvPr id="13" name="Text 11"/>
          <p:cNvSpPr/>
          <p:nvPr/>
        </p:nvSpPr>
        <p:spPr>
          <a:xfrm>
            <a:off x="1294611" y="4020790"/>
            <a:ext cx="153822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0403C"/>
                </a:solidFill>
                <a:latin typeface="IBM Plex Sans" pitchFamily="34" charset="0"/>
                <a:ea typeface="IBM Plex Sans" pitchFamily="34" charset="-122"/>
                <a:cs typeface="IBM Plex Sans" pitchFamily="34" charset="-120"/>
              </a:rPr>
              <a:t>Primary, Priorität 2</a:t>
            </a:r>
            <a:endParaRPr lang="en-US" sz="1200" dirty="0"/>
          </a:p>
        </p:txBody>
      </p:sp>
      <p:sp>
        <p:nvSpPr>
          <p:cNvPr id="14" name="Shape 12"/>
          <p:cNvSpPr/>
          <p:nvPr/>
        </p:nvSpPr>
        <p:spPr>
          <a:xfrm>
            <a:off x="3270250" y="3547070"/>
            <a:ext cx="2082800" cy="850900"/>
          </a:xfrm>
          <a:prstGeom prst="roundRect">
            <a:avLst>
              <a:gd name="adj" fmla="val 5224"/>
            </a:avLst>
          </a:prstGeom>
          <a:solidFill>
            <a:srgbClr val="FBFAF7"/>
          </a:solidFill>
          <a:ln w="12700">
            <a:solidFill>
              <a:srgbClr val="9AA6A4"/>
            </a:solidFill>
            <a:prstDash val="solid"/>
          </a:ln>
        </p:spPr>
        <p:txBody>
          <a:bodyPr/>
          <a:lstStyle/>
          <a:p>
            <a:endParaRPr lang="de-DE"/>
          </a:p>
        </p:txBody>
      </p:sp>
      <p:sp>
        <p:nvSpPr>
          <p:cNvPr id="15" name="Text 13"/>
          <p:cNvSpPr/>
          <p:nvPr/>
        </p:nvSpPr>
        <p:spPr>
          <a:xfrm>
            <a:off x="3855641" y="3710930"/>
            <a:ext cx="912019"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E2221"/>
                </a:solidFill>
                <a:latin typeface="IBM Plex Sans" pitchFamily="34" charset="0"/>
                <a:ea typeface="IBM Plex Sans" pitchFamily="34" charset="-122"/>
                <a:cs typeface="IBM Plex Sans" pitchFamily="34" charset="-120"/>
              </a:rPr>
              <a:t>mongo2</a:t>
            </a:r>
            <a:endParaRPr lang="en-US" sz="1600" dirty="0"/>
          </a:p>
        </p:txBody>
      </p:sp>
      <p:sp>
        <p:nvSpPr>
          <p:cNvPr id="16" name="Text 14"/>
          <p:cNvSpPr/>
          <p:nvPr/>
        </p:nvSpPr>
        <p:spPr>
          <a:xfrm>
            <a:off x="3877732" y="4020790"/>
            <a:ext cx="86778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05E"/>
                </a:solidFill>
                <a:latin typeface="IBM Plex Sans" pitchFamily="34" charset="0"/>
                <a:ea typeface="IBM Plex Sans" pitchFamily="34" charset="-122"/>
                <a:cs typeface="IBM Plex Sans" pitchFamily="34" charset="-120"/>
              </a:rPr>
              <a:t>Secondary</a:t>
            </a:r>
            <a:endParaRPr lang="en-US" sz="1200" dirty="0"/>
          </a:p>
        </p:txBody>
      </p:sp>
      <p:sp>
        <p:nvSpPr>
          <p:cNvPr id="17" name="Shape 15"/>
          <p:cNvSpPr/>
          <p:nvPr/>
        </p:nvSpPr>
        <p:spPr>
          <a:xfrm>
            <a:off x="5518150" y="3547070"/>
            <a:ext cx="2082800" cy="850900"/>
          </a:xfrm>
          <a:prstGeom prst="roundRect">
            <a:avLst>
              <a:gd name="adj" fmla="val 5224"/>
            </a:avLst>
          </a:prstGeom>
          <a:solidFill>
            <a:srgbClr val="FBFAF7"/>
          </a:solidFill>
          <a:ln w="12700">
            <a:solidFill>
              <a:srgbClr val="9AA6A4"/>
            </a:solidFill>
            <a:prstDash val="solid"/>
          </a:ln>
        </p:spPr>
        <p:txBody>
          <a:bodyPr/>
          <a:lstStyle/>
          <a:p>
            <a:endParaRPr lang="de-DE"/>
          </a:p>
        </p:txBody>
      </p:sp>
      <p:sp>
        <p:nvSpPr>
          <p:cNvPr id="18" name="Text 16"/>
          <p:cNvSpPr/>
          <p:nvPr/>
        </p:nvSpPr>
        <p:spPr>
          <a:xfrm>
            <a:off x="6103541" y="3710930"/>
            <a:ext cx="912019"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E2221"/>
                </a:solidFill>
                <a:latin typeface="IBM Plex Sans" pitchFamily="34" charset="0"/>
                <a:ea typeface="IBM Plex Sans" pitchFamily="34" charset="-122"/>
                <a:cs typeface="IBM Plex Sans" pitchFamily="34" charset="-120"/>
              </a:rPr>
              <a:t>mongo3</a:t>
            </a:r>
            <a:endParaRPr lang="en-US" sz="1600" dirty="0"/>
          </a:p>
        </p:txBody>
      </p:sp>
      <p:sp>
        <p:nvSpPr>
          <p:cNvPr id="19" name="Text 17"/>
          <p:cNvSpPr/>
          <p:nvPr/>
        </p:nvSpPr>
        <p:spPr>
          <a:xfrm>
            <a:off x="6125632" y="4020790"/>
            <a:ext cx="86778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05E"/>
                </a:solidFill>
                <a:latin typeface="IBM Plex Sans" pitchFamily="34" charset="0"/>
                <a:ea typeface="IBM Plex Sans" pitchFamily="34" charset="-122"/>
                <a:cs typeface="IBM Plex Sans" pitchFamily="34" charset="-120"/>
              </a:rPr>
              <a:t>Secondary</a:t>
            </a:r>
            <a:endParaRPr lang="en-US" sz="1200" dirty="0"/>
          </a:p>
        </p:txBody>
      </p:sp>
      <p:sp>
        <p:nvSpPr>
          <p:cNvPr id="20" name="Shape 18"/>
          <p:cNvSpPr/>
          <p:nvPr/>
        </p:nvSpPr>
        <p:spPr>
          <a:xfrm>
            <a:off x="9074150" y="3064470"/>
            <a:ext cx="2298700" cy="1130300"/>
          </a:xfrm>
          <a:prstGeom prst="roundRect">
            <a:avLst>
              <a:gd name="adj" fmla="val 3933"/>
            </a:avLst>
          </a:prstGeom>
          <a:solidFill>
            <a:srgbClr val="F2E2D5"/>
          </a:solidFill>
          <a:ln w="12700">
            <a:solidFill>
              <a:srgbClr val="C2652A"/>
            </a:solidFill>
            <a:prstDash val="solid"/>
          </a:ln>
        </p:spPr>
        <p:txBody>
          <a:bodyPr/>
          <a:lstStyle/>
          <a:p>
            <a:endParaRPr lang="de-DE"/>
          </a:p>
        </p:txBody>
      </p:sp>
      <p:sp>
        <p:nvSpPr>
          <p:cNvPr id="21" name="Text 19"/>
          <p:cNvSpPr/>
          <p:nvPr/>
        </p:nvSpPr>
        <p:spPr>
          <a:xfrm>
            <a:off x="9908763" y="3248670"/>
            <a:ext cx="629424"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6E3210"/>
                </a:solidFill>
                <a:latin typeface="IBM Plex Sans" pitchFamily="34" charset="0"/>
                <a:ea typeface="IBM Plex Sans" pitchFamily="34" charset="-122"/>
                <a:cs typeface="IBM Plex Sans" pitchFamily="34" charset="-120"/>
              </a:rPr>
              <a:t>Redis</a:t>
            </a:r>
            <a:endParaRPr lang="en-US" sz="1600" dirty="0"/>
          </a:p>
        </p:txBody>
      </p:sp>
      <p:sp>
        <p:nvSpPr>
          <p:cNvPr id="22" name="Text 20"/>
          <p:cNvSpPr/>
          <p:nvPr/>
        </p:nvSpPr>
        <p:spPr>
          <a:xfrm>
            <a:off x="9520317" y="3558530"/>
            <a:ext cx="14063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E3210"/>
                </a:solidFill>
                <a:latin typeface="IBM Plex Sans" pitchFamily="34" charset="0"/>
                <a:ea typeface="IBM Plex Sans" pitchFamily="34" charset="-122"/>
                <a:cs typeface="IBM Plex Sans" pitchFamily="34" charset="-120"/>
              </a:rPr>
              <a:t>Cache, TTL 300 s</a:t>
            </a:r>
            <a:endParaRPr lang="en-US" sz="1200" dirty="0"/>
          </a:p>
        </p:txBody>
      </p:sp>
      <p:sp>
        <p:nvSpPr>
          <p:cNvPr id="23" name="Text 21"/>
          <p:cNvSpPr/>
          <p:nvPr/>
        </p:nvSpPr>
        <p:spPr>
          <a:xfrm>
            <a:off x="9747905" y="3797250"/>
            <a:ext cx="95119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E3210"/>
                </a:solidFill>
                <a:latin typeface="IBM Plex Sans" pitchFamily="34" charset="0"/>
                <a:ea typeface="IBM Plex Sans" pitchFamily="34" charset="-122"/>
                <a:cs typeface="IBM Plex Sans" pitchFamily="34" charset="-120"/>
              </a:rPr>
              <a:t>64 MB, LRU</a:t>
            </a:r>
            <a:endParaRPr lang="en-US" sz="1200" dirty="0"/>
          </a:p>
        </p:txBody>
      </p:sp>
      <p:sp>
        <p:nvSpPr>
          <p:cNvPr id="24" name="Text 22"/>
          <p:cNvSpPr/>
          <p:nvPr/>
        </p:nvSpPr>
        <p:spPr>
          <a:xfrm>
            <a:off x="1022350" y="4842470"/>
            <a:ext cx="3543300" cy="495300"/>
          </a:xfrm>
          <a:prstGeom prst="roundRect">
            <a:avLst>
              <a:gd name="adj" fmla="val 8974"/>
            </a:avLst>
          </a:prstGeom>
          <a:solidFill>
            <a:srgbClr val="FBFAF7"/>
          </a:solidFill>
          <a:ln w="12700">
            <a:solidFill>
              <a:srgbClr val="9AA6A4"/>
            </a:solidFill>
            <a:prstDash val="dash"/>
          </a:ln>
        </p:spPr>
        <p:txBody>
          <a:bodyPr wrap="square" lIns="69531" tIns="69531" rIns="69531" bIns="69531" rtlCol="0" anchor="ctr">
            <a:normAutofit/>
          </a:bodyPr>
          <a:lstStyle/>
          <a:p>
            <a:pPr marL="0" indent="0" algn="ctr">
              <a:lnSpc>
                <a:spcPts val="1820"/>
              </a:lnSpc>
              <a:buNone/>
            </a:pPr>
            <a:r>
              <a:rPr lang="en-US" sz="1300" dirty="0">
                <a:solidFill>
                  <a:srgbClr val="1E2221"/>
                </a:solidFill>
                <a:latin typeface="IBM Plex Sans" pitchFamily="34" charset="0"/>
                <a:ea typeface="IBM Plex Sans" pitchFamily="34" charset="-122"/>
                <a:cs typeface="IBM Plex Sans" pitchFamily="34" charset="-120"/>
              </a:rPr>
              <a:t>Import · 16.040 echte Inserate</a:t>
            </a:r>
            <a:endParaRPr lang="en-US" sz="1300" dirty="0"/>
          </a:p>
        </p:txBody>
      </p:sp>
      <p:sp>
        <p:nvSpPr>
          <p:cNvPr id="25" name="Text 23"/>
          <p:cNvSpPr/>
          <p:nvPr/>
        </p:nvSpPr>
        <p:spPr>
          <a:xfrm>
            <a:off x="4781550" y="4842470"/>
            <a:ext cx="3543300" cy="495300"/>
          </a:xfrm>
          <a:prstGeom prst="roundRect">
            <a:avLst>
              <a:gd name="adj" fmla="val 8974"/>
            </a:avLst>
          </a:prstGeom>
          <a:solidFill>
            <a:srgbClr val="FBFAF7"/>
          </a:solidFill>
          <a:ln w="12700">
            <a:solidFill>
              <a:srgbClr val="9AA6A4"/>
            </a:solidFill>
            <a:prstDash val="dash"/>
          </a:ln>
        </p:spPr>
        <p:txBody>
          <a:bodyPr wrap="square" lIns="69531" tIns="69531" rIns="69531" bIns="69531" rtlCol="0" anchor="ctr">
            <a:normAutofit/>
          </a:bodyPr>
          <a:lstStyle/>
          <a:p>
            <a:pPr marL="0" indent="0" algn="ctr">
              <a:lnSpc>
                <a:spcPts val="1820"/>
              </a:lnSpc>
              <a:buNone/>
            </a:pPr>
            <a:r>
              <a:rPr lang="en-US" sz="1300" dirty="0">
                <a:solidFill>
                  <a:srgbClr val="1E2221"/>
                </a:solidFill>
                <a:latin typeface="IBM Plex Sans" pitchFamily="34" charset="0"/>
                <a:ea typeface="IBM Plex Sans" pitchFamily="34" charset="-122"/>
                <a:cs typeface="IBM Plex Sans" pitchFamily="34" charset="-120"/>
              </a:rPr>
              <a:t>Generator · fiktive Personendaten</a:t>
            </a:r>
            <a:endParaRPr lang="en-US" sz="1300" dirty="0"/>
          </a:p>
        </p:txBody>
      </p:sp>
      <p:pic>
        <p:nvPicPr>
          <p:cNvPr id="26" name="Image 0" descr="connector"/>
          <p:cNvPicPr>
            <a:picLocks noChangeAspect="1"/>
          </p:cNvPicPr>
          <p:nvPr/>
        </p:nvPicPr>
        <p:blipFill>
          <a:blip r:embed="rId3"/>
          <a:srcRect/>
          <a:stretch/>
        </p:blipFill>
        <p:spPr>
          <a:xfrm>
            <a:off x="2667000" y="2023070"/>
            <a:ext cx="1752600" cy="101600"/>
          </a:xfrm>
          <a:prstGeom prst="rect">
            <a:avLst/>
          </a:prstGeom>
        </p:spPr>
      </p:pic>
      <p:pic>
        <p:nvPicPr>
          <p:cNvPr id="27" name="Image 1" descr="connector"/>
          <p:cNvPicPr>
            <a:picLocks noChangeAspect="1"/>
          </p:cNvPicPr>
          <p:nvPr/>
        </p:nvPicPr>
        <p:blipFill>
          <a:blip r:embed="rId4"/>
          <a:srcRect/>
          <a:stretch/>
        </p:blipFill>
        <p:spPr>
          <a:xfrm>
            <a:off x="6045200" y="2562820"/>
            <a:ext cx="101600" cy="546100"/>
          </a:xfrm>
          <a:prstGeom prst="rect">
            <a:avLst/>
          </a:prstGeom>
        </p:spPr>
      </p:pic>
      <p:pic>
        <p:nvPicPr>
          <p:cNvPr id="28" name="Image 2" descr="connector"/>
          <p:cNvPicPr>
            <a:picLocks noChangeAspect="1"/>
          </p:cNvPicPr>
          <p:nvPr/>
        </p:nvPicPr>
        <p:blipFill>
          <a:blip r:embed="rId5"/>
          <a:srcRect/>
          <a:stretch/>
        </p:blipFill>
        <p:spPr>
          <a:xfrm>
            <a:off x="7772400" y="2023070"/>
            <a:ext cx="2501900" cy="1085850"/>
          </a:xfrm>
          <a:prstGeom prst="rect">
            <a:avLst/>
          </a:prstGeom>
        </p:spPr>
      </p:pic>
      <p:pic>
        <p:nvPicPr>
          <p:cNvPr id="29" name="Image 3" descr="connector"/>
          <p:cNvPicPr>
            <a:picLocks noChangeAspect="1"/>
          </p:cNvPicPr>
          <p:nvPr/>
        </p:nvPicPr>
        <p:blipFill>
          <a:blip r:embed="rId6"/>
          <a:srcRect/>
          <a:stretch/>
        </p:blipFill>
        <p:spPr>
          <a:xfrm>
            <a:off x="2743200" y="4531320"/>
            <a:ext cx="101600" cy="355600"/>
          </a:xfrm>
          <a:prstGeom prst="rect">
            <a:avLst/>
          </a:prstGeom>
        </p:spPr>
      </p:pic>
      <p:pic>
        <p:nvPicPr>
          <p:cNvPr id="30" name="Image 4" descr="connector"/>
          <p:cNvPicPr>
            <a:picLocks noChangeAspect="1"/>
          </p:cNvPicPr>
          <p:nvPr/>
        </p:nvPicPr>
        <p:blipFill>
          <a:blip r:embed="rId6"/>
          <a:srcRect/>
          <a:stretch/>
        </p:blipFill>
        <p:spPr>
          <a:xfrm>
            <a:off x="6502400" y="4531320"/>
            <a:ext cx="101600" cy="355600"/>
          </a:xfrm>
          <a:prstGeom prst="rect">
            <a:avLst/>
          </a:prstGeom>
        </p:spPr>
      </p:pic>
      <p:sp>
        <p:nvSpPr>
          <p:cNvPr id="31" name="Text 24"/>
          <p:cNvSpPr/>
          <p:nvPr/>
        </p:nvSpPr>
        <p:spPr>
          <a:xfrm>
            <a:off x="2882900" y="172462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05E"/>
                </a:solidFill>
                <a:latin typeface="IBM Plex Sans" pitchFamily="34" charset="0"/>
                <a:ea typeface="IBM Plex Sans" pitchFamily="34" charset="-122"/>
                <a:cs typeface="IBM Plex Sans" pitchFamily="34" charset="-120"/>
              </a:rPr>
              <a:t>HTTP</a:t>
            </a:r>
            <a:endParaRPr lang="en-US" sz="1200" dirty="0"/>
          </a:p>
        </p:txBody>
      </p:sp>
      <p:sp>
        <p:nvSpPr>
          <p:cNvPr id="32" name="Text 25"/>
          <p:cNvSpPr/>
          <p:nvPr/>
        </p:nvSpPr>
        <p:spPr>
          <a:xfrm>
            <a:off x="6210300" y="2702520"/>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E"/>
                </a:solidFill>
                <a:latin typeface="IBM Plex Sans" pitchFamily="34" charset="0"/>
                <a:ea typeface="IBM Plex Sans" pitchFamily="34" charset="-122"/>
                <a:cs typeface="IBM Plex Sans" pitchFamily="34" charset="-120"/>
              </a:rPr>
              <a:t>Lesen und Schreiben</a:t>
            </a:r>
            <a:endParaRPr lang="en-US" sz="1200" dirty="0"/>
          </a:p>
        </p:txBody>
      </p:sp>
      <p:sp>
        <p:nvSpPr>
          <p:cNvPr id="33" name="Text 26"/>
          <p:cNvSpPr/>
          <p:nvPr/>
        </p:nvSpPr>
        <p:spPr>
          <a:xfrm>
            <a:off x="8051800" y="1762720"/>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3210"/>
                </a:solidFill>
                <a:latin typeface="IBM Plex Sans" pitchFamily="34" charset="0"/>
                <a:ea typeface="IBM Plex Sans" pitchFamily="34" charset="-122"/>
                <a:cs typeface="IBM Plex Sans" pitchFamily="34" charset="-120"/>
              </a:rPr>
              <a:t>Cache-aside</a:t>
            </a:r>
            <a:endParaRPr lang="en-US" sz="1200" dirty="0"/>
          </a:p>
        </p:txBody>
      </p:sp>
      <p:sp>
        <p:nvSpPr>
          <p:cNvPr id="34" name="Text 2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E"/>
                </a:solidFill>
                <a:latin typeface="IBM Plex Sans" pitchFamily="34" charset="0"/>
                <a:ea typeface="IBM Plex Sans" pitchFamily="34" charset="-122"/>
                <a:cs typeface="IBM Plex Sans" pitchFamily="34" charset="-120"/>
              </a:rPr>
              <a:t>Ein Befehl startet alle fünf Container: docker compose up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514C"/>
                </a:solidFill>
                <a:latin typeface="IBM Plex Sans" pitchFamily="34" charset="0"/>
                <a:ea typeface="IBM Plex Sans" pitchFamily="34" charset="-122"/>
                <a:cs typeface="IBM Plex Sans" pitchFamily="34" charset="-120"/>
              </a:rPr>
              <a:t>Echte Inserate, fiktive Personen</a:t>
            </a:r>
            <a:endParaRPr lang="en-US" sz="3200" dirty="0"/>
          </a:p>
        </p:txBody>
      </p:sp>
      <p:sp>
        <p:nvSpPr>
          <p:cNvPr id="3" name="Shape 1"/>
          <p:cNvSpPr/>
          <p:nvPr/>
        </p:nvSpPr>
        <p:spPr>
          <a:xfrm>
            <a:off x="812800" y="2355850"/>
            <a:ext cx="3318917" cy="0"/>
          </a:xfrm>
          <a:prstGeom prst="line">
            <a:avLst/>
          </a:prstGeom>
          <a:noFill/>
          <a:ln w="25400">
            <a:solidFill>
              <a:srgbClr val="17514C"/>
            </a:solidFill>
            <a:prstDash val="solid"/>
          </a:ln>
        </p:spPr>
        <p:txBody>
          <a:bodyPr/>
          <a:lstStyle/>
          <a:p>
            <a:endParaRPr lang="de-DE"/>
          </a:p>
        </p:txBody>
      </p:sp>
      <p:sp>
        <p:nvSpPr>
          <p:cNvPr id="4" name="Text 2"/>
          <p:cNvSpPr/>
          <p:nvPr/>
        </p:nvSpPr>
        <p:spPr>
          <a:xfrm>
            <a:off x="812800" y="2571750"/>
            <a:ext cx="341848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7514C"/>
                </a:solidFill>
                <a:latin typeface="IBM Plex Sans" pitchFamily="34" charset="0"/>
                <a:ea typeface="IBM Plex Sans" pitchFamily="34" charset="-122"/>
                <a:cs typeface="IBM Plex Sans" pitchFamily="34" charset="-120"/>
              </a:rPr>
              <a:t>16.040</a:t>
            </a:r>
            <a:endParaRPr lang="en-US" sz="6000" dirty="0"/>
          </a:p>
        </p:txBody>
      </p:sp>
      <p:sp>
        <p:nvSpPr>
          <p:cNvPr id="5" name="Text 3"/>
          <p:cNvSpPr/>
          <p:nvPr/>
        </p:nvSpPr>
        <p:spPr>
          <a:xfrm>
            <a:off x="812800" y="3409950"/>
            <a:ext cx="341848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echte Mietinserate aus Baden-Württemberg (ImmoScout24, 2018–2020)</a:t>
            </a:r>
            <a:endParaRPr lang="en-US" sz="1500" dirty="0"/>
          </a:p>
        </p:txBody>
      </p:sp>
      <p:sp>
        <p:nvSpPr>
          <p:cNvPr id="6" name="Shape 4"/>
          <p:cNvSpPr/>
          <p:nvPr/>
        </p:nvSpPr>
        <p:spPr>
          <a:xfrm>
            <a:off x="4436517" y="2355850"/>
            <a:ext cx="3318966" cy="0"/>
          </a:xfrm>
          <a:prstGeom prst="line">
            <a:avLst/>
          </a:prstGeom>
          <a:noFill/>
          <a:ln w="25400">
            <a:solidFill>
              <a:srgbClr val="17514C"/>
            </a:solidFill>
            <a:prstDash val="solid"/>
          </a:ln>
        </p:spPr>
        <p:txBody>
          <a:bodyPr/>
          <a:lstStyle/>
          <a:p>
            <a:endParaRPr lang="de-DE"/>
          </a:p>
        </p:txBody>
      </p:sp>
      <p:sp>
        <p:nvSpPr>
          <p:cNvPr id="7" name="Text 5"/>
          <p:cNvSpPr/>
          <p:nvPr/>
        </p:nvSpPr>
        <p:spPr>
          <a:xfrm>
            <a:off x="4436517" y="2571750"/>
            <a:ext cx="3418535"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7514C"/>
                </a:solidFill>
                <a:latin typeface="IBM Plex Sans" pitchFamily="34" charset="0"/>
                <a:ea typeface="IBM Plex Sans" pitchFamily="34" charset="-122"/>
                <a:cs typeface="IBM Plex Sans" pitchFamily="34" charset="-120"/>
              </a:rPr>
              <a:t>7–20</a:t>
            </a:r>
            <a:endParaRPr lang="en-US" sz="6000" dirty="0"/>
          </a:p>
        </p:txBody>
      </p:sp>
      <p:sp>
        <p:nvSpPr>
          <p:cNvPr id="8" name="Text 6"/>
          <p:cNvSpPr/>
          <p:nvPr/>
        </p:nvSpPr>
        <p:spPr>
          <a:xfrm>
            <a:off x="4436517" y="3409950"/>
            <a:ext cx="341853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Felder je Inserat, je nachdem, was der Anbieter angegeben hat</a:t>
            </a:r>
            <a:endParaRPr lang="en-US" sz="1500" dirty="0"/>
          </a:p>
        </p:txBody>
      </p:sp>
      <p:sp>
        <p:nvSpPr>
          <p:cNvPr id="9" name="Shape 7"/>
          <p:cNvSpPr/>
          <p:nvPr/>
        </p:nvSpPr>
        <p:spPr>
          <a:xfrm>
            <a:off x="8060283" y="2355850"/>
            <a:ext cx="3318917" cy="0"/>
          </a:xfrm>
          <a:prstGeom prst="line">
            <a:avLst/>
          </a:prstGeom>
          <a:noFill/>
          <a:ln w="25400">
            <a:solidFill>
              <a:srgbClr val="17514C"/>
            </a:solidFill>
            <a:prstDash val="solid"/>
          </a:ln>
        </p:spPr>
        <p:txBody>
          <a:bodyPr/>
          <a:lstStyle/>
          <a:p>
            <a:endParaRPr lang="de-DE"/>
          </a:p>
        </p:txBody>
      </p:sp>
      <p:sp>
        <p:nvSpPr>
          <p:cNvPr id="10" name="Text 8"/>
          <p:cNvSpPr/>
          <p:nvPr/>
        </p:nvSpPr>
        <p:spPr>
          <a:xfrm>
            <a:off x="8060283" y="2571750"/>
            <a:ext cx="341848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7514C"/>
                </a:solidFill>
                <a:latin typeface="IBM Plex Sans" pitchFamily="34" charset="0"/>
                <a:ea typeface="IBM Plex Sans" pitchFamily="34" charset="-122"/>
                <a:cs typeface="IBM Plex Sans" pitchFamily="34" charset="-120"/>
              </a:rPr>
              <a:t>31.800</a:t>
            </a:r>
            <a:endParaRPr lang="en-US" sz="6000" dirty="0"/>
          </a:p>
        </p:txBody>
      </p:sp>
      <p:sp>
        <p:nvSpPr>
          <p:cNvPr id="11" name="Text 9"/>
          <p:cNvSpPr/>
          <p:nvPr/>
        </p:nvSpPr>
        <p:spPr>
          <a:xfrm>
            <a:off x="8060283" y="3409950"/>
            <a:ext cx="341848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Dokumente insgesamt in fünf Collections, rund</a:t>
            </a:r>
            <a:endParaRPr lang="en-US" sz="1500" dirty="0"/>
          </a:p>
        </p:txBody>
      </p:sp>
      <p:sp>
        <p:nvSpPr>
          <p:cNvPr id="12" name="Text 10"/>
          <p:cNvSpPr/>
          <p:nvPr/>
        </p:nvSpPr>
        <p:spPr>
          <a:xfrm>
            <a:off x="812800" y="5273080"/>
            <a:ext cx="1088339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E2221"/>
                </a:solidFill>
                <a:latin typeface="IBM Plex Sans" pitchFamily="34" charset="0"/>
                <a:ea typeface="IBM Plex Sans" pitchFamily="34" charset="-122"/>
                <a:cs typeface="IBM Plex Sans" pitchFamily="34" charset="-120"/>
              </a:rPr>
              <a:t>Mieter, Verträge und Vorgänge sind fiktiv, aber auf den echten Mieten und Flächen aufgebaut. Echte Mieterdaten wären auch mit gekürzten Namen noch personenbezogen.</a:t>
            </a:r>
            <a:endParaRPr lang="en-US" sz="16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E"/>
                </a:solidFill>
                <a:latin typeface="IBM Plex Sans" pitchFamily="34" charset="0"/>
                <a:ea typeface="IBM Plex Sans" pitchFamily="34" charset="-122"/>
                <a:cs typeface="IBM Plex Sans" pitchFamily="34" charset="-120"/>
              </a:rPr>
              <a:t>Quelle: Kaggle, „Apartment rental offers in Germany“, nur für Forschungszwecke · 51 Erfassungsfehler aussortiert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514C"/>
                </a:solidFill>
                <a:latin typeface="IBM Plex Sans" pitchFamily="34" charset="0"/>
                <a:ea typeface="IBM Plex Sans" pitchFamily="34" charset="-122"/>
                <a:cs typeface="IBM Plex Sans" pitchFamily="34" charset="-120"/>
              </a:rPr>
              <a:t>Ein Vertrag ist ein Dokument</a:t>
            </a:r>
            <a:endParaRPr lang="en-US" sz="3200" dirty="0"/>
          </a:p>
        </p:txBody>
      </p:sp>
      <p:sp>
        <p:nvSpPr>
          <p:cNvPr id="3" name="Shape 1"/>
          <p:cNvSpPr/>
          <p:nvPr/>
        </p:nvSpPr>
        <p:spPr>
          <a:xfrm>
            <a:off x="812800" y="1534120"/>
            <a:ext cx="6604000" cy="3568402"/>
          </a:xfrm>
          <a:prstGeom prst="roundRect">
            <a:avLst>
              <a:gd name="adj" fmla="val 1424"/>
            </a:avLst>
          </a:prstGeom>
          <a:solidFill>
            <a:srgbClr val="10403C"/>
          </a:solidFill>
          <a:ln/>
        </p:spPr>
        <p:txBody>
          <a:bodyPr/>
          <a:lstStyle/>
          <a:p>
            <a:endParaRPr lang="de-DE"/>
          </a:p>
        </p:txBody>
      </p:sp>
      <p:sp>
        <p:nvSpPr>
          <p:cNvPr id="4" name="Text 2"/>
          <p:cNvSpPr/>
          <p:nvPr/>
        </p:nvSpPr>
        <p:spPr>
          <a:xfrm>
            <a:off x="1041400" y="1737320"/>
            <a:ext cx="6331204" cy="2897882"/>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nummer: "V-2024-9118",</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mieter_ids: [ObjectId("…")],</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mieter_namen: ["Nicolas Schwital"],</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miete: { kalt: 1390.07, nebenkosten: 247.79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mietanpassungen: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 ab: 2025-04-01, alt: 1317.47, neu: 1352.17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 ab: 2026-04-01, alt: 1352.17, neu: 1390.07 }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uebergaben: [{ art: "einzug",</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zaehlerstaende: [ …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raeume: [{ name: "Wohnzimmer", maengel: [ … ] }, …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a:t>
            </a:r>
            <a:endParaRPr lang="en-US" sz="1200" dirty="0"/>
          </a:p>
        </p:txBody>
      </p:sp>
      <p:sp>
        <p:nvSpPr>
          <p:cNvPr id="5" name="Text 3"/>
          <p:cNvSpPr/>
          <p:nvPr/>
        </p:nvSpPr>
        <p:spPr>
          <a:xfrm>
            <a:off x="1041400" y="4686002"/>
            <a:ext cx="63312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Sans" pitchFamily="34" charset="0"/>
                <a:ea typeface="IBM Plex Sans" pitchFamily="34" charset="-122"/>
                <a:cs typeface="IBM Plex Sans" pitchFamily="34" charset="-120"/>
              </a:rPr>
              <a:t>Beispiel, gekürzt · ein Lesezugriff liefert alles</a:t>
            </a:r>
            <a:endParaRPr lang="en-US" sz="1200" dirty="0"/>
          </a:p>
        </p:txBody>
      </p:sp>
      <p:sp>
        <p:nvSpPr>
          <p:cNvPr id="6" name="Text 4"/>
          <p:cNvSpPr/>
          <p:nvPr/>
        </p:nvSpPr>
        <p:spPr>
          <a:xfrm>
            <a:off x="7721600" y="1534120"/>
            <a:ext cx="376732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2221"/>
                </a:solidFill>
                <a:latin typeface="IBM Plex Sans" pitchFamily="34" charset="0"/>
                <a:ea typeface="IBM Plex Sans" pitchFamily="34" charset="-122"/>
                <a:cs typeface="IBM Plex Sans" pitchFamily="34" charset="-120"/>
              </a:rPr>
              <a:t>Relational</a:t>
            </a:r>
            <a:endParaRPr lang="en-US" sz="2000" dirty="0"/>
          </a:p>
        </p:txBody>
      </p:sp>
      <p:sp>
        <p:nvSpPr>
          <p:cNvPr id="7" name="Text 5"/>
          <p:cNvSpPr/>
          <p:nvPr/>
        </p:nvSpPr>
        <p:spPr>
          <a:xfrm>
            <a:off x="7721600" y="1915120"/>
            <a:ext cx="3767328"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Fünf Tabellen: Vertrag, Mietanpassung, Übergabe, Zählerstand, Raum. Vier Joins für eine Ansicht.</a:t>
            </a:r>
            <a:endParaRPr lang="en-US" sz="1500" dirty="0"/>
          </a:p>
        </p:txBody>
      </p:sp>
      <p:sp>
        <p:nvSpPr>
          <p:cNvPr id="8" name="Text 6"/>
          <p:cNvSpPr/>
          <p:nvPr/>
        </p:nvSpPr>
        <p:spPr>
          <a:xfrm>
            <a:off x="7721600" y="2918420"/>
            <a:ext cx="376732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2221"/>
                </a:solidFill>
                <a:latin typeface="IBM Plex Sans" pitchFamily="34" charset="0"/>
                <a:ea typeface="IBM Plex Sans" pitchFamily="34" charset="-122"/>
                <a:cs typeface="IBM Plex Sans" pitchFamily="34" charset="-120"/>
              </a:rPr>
              <a:t>Die Regel</a:t>
            </a:r>
            <a:endParaRPr lang="en-US" sz="2000" dirty="0"/>
          </a:p>
        </p:txBody>
      </p:sp>
      <p:sp>
        <p:nvSpPr>
          <p:cNvPr id="9" name="Text 7"/>
          <p:cNvSpPr/>
          <p:nvPr/>
        </p:nvSpPr>
        <p:spPr>
          <a:xfrm>
            <a:off x="7721600" y="3299420"/>
            <a:ext cx="3767328"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Einbetten, was zusammen gelesen wird. Referenzieren, was eigenständig ist: Mieter (n:m) und Vorgänge (wachsen unbegrenzt).</a:t>
            </a:r>
            <a:endParaRPr lang="en-US" sz="1500" dirty="0"/>
          </a:p>
        </p:txBody>
      </p:sp>
      <p:sp>
        <p:nvSpPr>
          <p:cNvPr id="10" name="Text 8"/>
          <p:cNvSpPr/>
          <p:nvPr/>
        </p:nvSpPr>
        <p:spPr>
          <a:xfrm>
            <a:off x="7721600" y="4569420"/>
            <a:ext cx="3657600" cy="1000671"/>
          </a:xfrm>
          <a:prstGeom prst="roundRect">
            <a:avLst>
              <a:gd name="adj" fmla="val 2538"/>
            </a:avLst>
          </a:prstGeom>
          <a:solidFill>
            <a:srgbClr val="F2E2D5"/>
          </a:solidFill>
          <a:ln/>
        </p:spPr>
        <p:txBody>
          <a:bodyPr wrap="square" lIns="144961" tIns="119561" rIns="44377" bIns="94161" rtlCol="0" anchor="t">
            <a:normAutofit/>
          </a:bodyPr>
          <a:lstStyle/>
          <a:p>
            <a:pPr marL="0" indent="0" algn="l">
              <a:lnSpc>
                <a:spcPts val="1960"/>
              </a:lnSpc>
              <a:buNone/>
            </a:pPr>
            <a:r>
              <a:rPr lang="en-US" sz="1400" dirty="0">
                <a:solidFill>
                  <a:srgbClr val="6E3210"/>
                </a:solidFill>
                <a:latin typeface="IBM Plex Sans" pitchFamily="34" charset="0"/>
                <a:ea typeface="IBM Plex Sans" pitchFamily="34" charset="-122"/>
                <a:cs typeface="IBM Plex Sans" pitchFamily="34" charset="-120"/>
              </a:rPr>
              <a:t>mieter_namen ist eine bewusste Kopie. Sie spart Lookups, muss aber gepflegt werden.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514C"/>
        </a:solidFill>
        <a:effectLst/>
      </p:bgPr>
    </p:bg>
    <p:spTree>
      <p:nvGrpSpPr>
        <p:cNvPr id="1" name=""/>
        <p:cNvGrpSpPr/>
        <p:nvPr/>
      </p:nvGrpSpPr>
      <p:grpSpPr>
        <a:xfrm>
          <a:off x="0" y="0"/>
          <a:ext cx="0" cy="0"/>
          <a:chOff x="0" y="0"/>
          <a:chExt cx="0" cy="0"/>
        </a:xfrm>
      </p:grpSpPr>
      <p:sp>
        <p:nvSpPr>
          <p:cNvPr id="2" name="Text 0"/>
          <p:cNvSpPr/>
          <p:nvPr/>
        </p:nvSpPr>
        <p:spPr>
          <a:xfrm>
            <a:off x="812800" y="1785739"/>
            <a:ext cx="10883392" cy="27429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9DAD6"/>
                </a:solidFill>
                <a:latin typeface="IBM Plex Sans" pitchFamily="34" charset="0"/>
                <a:ea typeface="IBM Plex Sans" pitchFamily="34" charset="-122"/>
                <a:cs typeface="IBM Plex Sans" pitchFamily="34" charset="-120"/>
              </a:rPr>
              <a:t>LIVE-DEMO 1 · CA. 3 MINUTEN</a:t>
            </a:r>
            <a:endParaRPr lang="en-US" sz="1400" dirty="0"/>
          </a:p>
        </p:txBody>
      </p:sp>
      <p:sp>
        <p:nvSpPr>
          <p:cNvPr id="3" name="Text 1"/>
          <p:cNvSpPr>
            <a:spLocks noGrp="1"/>
          </p:cNvSpPr>
          <p:nvPr>
            <p:ph type="title"/>
          </p:nvPr>
        </p:nvSpPr>
        <p:spPr>
          <a:xfrm>
            <a:off x="812800" y="2136229"/>
            <a:ext cx="10883392" cy="64006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5F3EE"/>
                </a:solidFill>
                <a:latin typeface="IBM Plex Sans" pitchFamily="34" charset="0"/>
                <a:ea typeface="IBM Plex Sans" pitchFamily="34" charset="-122"/>
                <a:cs typeface="IBM Plex Sans" pitchFamily="34" charset="-120"/>
              </a:rPr>
              <a:t>Rundgang durch die App</a:t>
            </a:r>
            <a:endParaRPr lang="en-US" sz="4400" dirty="0"/>
          </a:p>
        </p:txBody>
      </p:sp>
      <p:sp>
        <p:nvSpPr>
          <p:cNvPr id="4" name="Text 2"/>
          <p:cNvSpPr/>
          <p:nvPr/>
        </p:nvSpPr>
        <p:spPr>
          <a:xfrm>
            <a:off x="813495" y="3055689"/>
            <a:ext cx="10875077" cy="1488281"/>
          </a:xfrm>
          <a:prstGeom prst="rect">
            <a:avLst/>
          </a:prstGeom>
          <a:noFill/>
          <a:ln/>
        </p:spPr>
        <p:txBody>
          <a:bodyPr wrap="square" lIns="0" tIns="0" rIns="0" bIns="0" rtlCol="0" anchor="t">
            <a:normAutofit/>
          </a:bodyPr>
          <a:lstStyle/>
          <a:p>
            <a:pPr marL="253305" indent="-253305" algn="l">
              <a:lnSpc>
                <a:spcPts val="2880"/>
              </a:lnSpc>
              <a:buSzPct val="100000"/>
              <a:buFontTx/>
              <a:buAutoNum type="arabicPeriod"/>
            </a:pPr>
            <a:r>
              <a:rPr lang="en-US" sz="1800" dirty="0">
                <a:solidFill>
                  <a:srgbClr val="E3EEEB"/>
                </a:solidFill>
                <a:latin typeface="IBM Plex Sans" pitchFamily="34" charset="0"/>
                <a:ea typeface="IBM Plex Sans" pitchFamily="34" charset="-122"/>
                <a:cs typeface="IBM Plex Sans" pitchFamily="34" charset="-120"/>
              </a:rPr>
              <a:t>Übersicht: Kennzahlen aus Redis oder MongoDB</a:t>
            </a:r>
            <a:endParaRPr lang="en-US" sz="1800" dirty="0"/>
          </a:p>
          <a:p>
            <a:pPr marL="253305" indent="-253305" algn="l">
              <a:lnSpc>
                <a:spcPts val="2880"/>
              </a:lnSpc>
              <a:buSzPct val="100000"/>
              <a:buFontTx/>
              <a:buAutoNum type="arabicPeriod"/>
            </a:pPr>
            <a:r>
              <a:rPr lang="en-US" sz="1800" dirty="0">
                <a:solidFill>
                  <a:srgbClr val="E3EEEB"/>
                </a:solidFill>
                <a:latin typeface="IBM Plex Sans" pitchFamily="34" charset="0"/>
                <a:ea typeface="IBM Plex Sans" pitchFamily="34" charset="-122"/>
                <a:cs typeface="IBM Plex Sans" pitchFamily="34" charset="-120"/>
              </a:rPr>
              <a:t>Objekt: eingebettete Einheiten, verschiedene Typen in einem Dokument</a:t>
            </a:r>
            <a:endParaRPr lang="en-US" sz="1800" dirty="0"/>
          </a:p>
          <a:p>
            <a:pPr marL="253305" indent="-253305" algn="l">
              <a:lnSpc>
                <a:spcPts val="2880"/>
              </a:lnSpc>
              <a:buSzPct val="100000"/>
              <a:buFontTx/>
              <a:buAutoNum type="arabicPeriod"/>
            </a:pPr>
            <a:r>
              <a:rPr lang="en-US" sz="1800" dirty="0">
                <a:solidFill>
                  <a:srgbClr val="E3EEEB"/>
                </a:solidFill>
                <a:latin typeface="IBM Plex Sans" pitchFamily="34" charset="0"/>
                <a:ea typeface="IBM Plex Sans" pitchFamily="34" charset="-122"/>
                <a:cs typeface="IBM Plex Sans" pitchFamily="34" charset="-120"/>
              </a:rPr>
              <a:t>Vertrag: Ansicht und Dokument, ein Lesezugriff</a:t>
            </a:r>
            <a:endParaRPr lang="en-US" sz="1800" dirty="0"/>
          </a:p>
          <a:p>
            <a:pPr marL="253305" indent="-253305" algn="l">
              <a:lnSpc>
                <a:spcPts val="2880"/>
              </a:lnSpc>
              <a:buSzPct val="100000"/>
              <a:buFontTx/>
              <a:buAutoNum type="arabicPeriod"/>
            </a:pPr>
            <a:r>
              <a:rPr lang="en-US" sz="1800" dirty="0">
                <a:solidFill>
                  <a:srgbClr val="E3EEEB"/>
                </a:solidFill>
                <a:latin typeface="IBM Plex Sans" pitchFamily="34" charset="0"/>
                <a:ea typeface="IBM Plex Sans" pitchFamily="34" charset="-122"/>
                <a:cs typeface="IBM Plex Sans" pitchFamily="34" charset="-120"/>
              </a:rPr>
              <a:t>Markt: echte Inserate mit fehlenden Feldern</a:t>
            </a:r>
            <a:endParaRPr lang="en-US" sz="1800" dirty="0"/>
          </a:p>
        </p:txBody>
      </p:sp>
      <p:sp>
        <p:nvSpPr>
          <p:cNvPr id="5" name="Text 3"/>
          <p:cNvSpPr/>
          <p:nvPr/>
        </p:nvSpPr>
        <p:spPr>
          <a:xfrm>
            <a:off x="812800" y="4823371"/>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FC3BC"/>
                </a:solidFill>
                <a:latin typeface="IBM Plex Mono" pitchFamily="49" charset="0"/>
                <a:ea typeface="IBM Plex Mono" pitchFamily="49" charset="-122"/>
                <a:cs typeface="IBM Plex Mono" pitchFamily="49" charset="-120"/>
              </a:rPr>
              <a:t>localhost:8000</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403C"/>
        </a:solidFill>
        <a:effectLst/>
      </p:bgPr>
    </p:bg>
    <p:spTree>
      <p:nvGrpSpPr>
        <p:cNvPr id="1" name=""/>
        <p:cNvGrpSpPr/>
        <p:nvPr/>
      </p:nvGrpSpPr>
      <p:grpSpPr>
        <a:xfrm>
          <a:off x="0" y="0"/>
          <a:ext cx="0" cy="0"/>
          <a:chOff x="0" y="0"/>
          <a:chExt cx="0" cy="0"/>
        </a:xfrm>
      </p:grpSpPr>
      <p:sp>
        <p:nvSpPr>
          <p:cNvPr id="2" name="Text 0"/>
          <p:cNvSpPr/>
          <p:nvPr/>
        </p:nvSpPr>
        <p:spPr>
          <a:xfrm>
            <a:off x="812800" y="1772989"/>
            <a:ext cx="10883392" cy="27429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9DAD6"/>
                </a:solidFill>
                <a:latin typeface="IBM Plex Sans" pitchFamily="34" charset="0"/>
                <a:ea typeface="IBM Plex Sans" pitchFamily="34" charset="-122"/>
                <a:cs typeface="IBM Plex Sans" pitchFamily="34" charset="-120"/>
              </a:rPr>
              <a:t>LIVE-DEMO 2 · CA. 5 MINUTEN</a:t>
            </a:r>
            <a:endParaRPr lang="en-US" sz="1400" dirty="0"/>
          </a:p>
        </p:txBody>
      </p:sp>
      <p:sp>
        <p:nvSpPr>
          <p:cNvPr id="3" name="Text 1"/>
          <p:cNvSpPr>
            <a:spLocks noGrp="1"/>
          </p:cNvSpPr>
          <p:nvPr>
            <p:ph type="title"/>
          </p:nvPr>
        </p:nvSpPr>
        <p:spPr>
          <a:xfrm>
            <a:off x="812800" y="2123480"/>
            <a:ext cx="10883392" cy="64006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5F3EE"/>
                </a:solidFill>
                <a:latin typeface="IBM Plex Sans" pitchFamily="34" charset="0"/>
                <a:ea typeface="IBM Plex Sans" pitchFamily="34" charset="-122"/>
                <a:cs typeface="IBM Plex Sans" pitchFamily="34" charset="-120"/>
              </a:rPr>
              <a:t>NoSQL-Labor: sieben Experimente</a:t>
            </a:r>
            <a:endParaRPr lang="en-US" sz="4400" dirty="0"/>
          </a:p>
        </p:txBody>
      </p:sp>
      <p:sp>
        <p:nvSpPr>
          <p:cNvPr id="4" name="Shape 2"/>
          <p:cNvSpPr/>
          <p:nvPr/>
        </p:nvSpPr>
        <p:spPr>
          <a:xfrm>
            <a:off x="819150" y="310009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5" name="Text 3"/>
          <p:cNvSpPr/>
          <p:nvPr/>
        </p:nvSpPr>
        <p:spPr>
          <a:xfrm>
            <a:off x="1003300" y="328424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01</a:t>
            </a:r>
            <a:endParaRPr lang="en-US" sz="1200" dirty="0"/>
          </a:p>
        </p:txBody>
      </p:sp>
      <p:sp>
        <p:nvSpPr>
          <p:cNvPr id="6" name="Text 4"/>
          <p:cNvSpPr/>
          <p:nvPr/>
        </p:nvSpPr>
        <p:spPr>
          <a:xfrm>
            <a:off x="1003300" y="3548360"/>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Failover</a:t>
            </a:r>
            <a:endParaRPr lang="en-US" sz="1800" dirty="0"/>
          </a:p>
        </p:txBody>
      </p:sp>
      <p:sp>
        <p:nvSpPr>
          <p:cNvPr id="7" name="Shape 5"/>
          <p:cNvSpPr/>
          <p:nvPr/>
        </p:nvSpPr>
        <p:spPr>
          <a:xfrm>
            <a:off x="3498850" y="310009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8" name="Text 6"/>
          <p:cNvSpPr/>
          <p:nvPr/>
        </p:nvSpPr>
        <p:spPr>
          <a:xfrm>
            <a:off x="3683000" y="328424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02</a:t>
            </a:r>
            <a:endParaRPr lang="en-US" sz="1200" dirty="0"/>
          </a:p>
        </p:txBody>
      </p:sp>
      <p:sp>
        <p:nvSpPr>
          <p:cNvPr id="9" name="Text 7"/>
          <p:cNvSpPr/>
          <p:nvPr/>
        </p:nvSpPr>
        <p:spPr>
          <a:xfrm>
            <a:off x="3683000" y="3548360"/>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Redis-Cache</a:t>
            </a:r>
            <a:endParaRPr lang="en-US" sz="1800" dirty="0"/>
          </a:p>
        </p:txBody>
      </p:sp>
      <p:sp>
        <p:nvSpPr>
          <p:cNvPr id="10" name="Shape 8"/>
          <p:cNvSpPr/>
          <p:nvPr/>
        </p:nvSpPr>
        <p:spPr>
          <a:xfrm>
            <a:off x="6178550" y="310009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11" name="Text 9"/>
          <p:cNvSpPr/>
          <p:nvPr/>
        </p:nvSpPr>
        <p:spPr>
          <a:xfrm>
            <a:off x="6362700" y="328424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03</a:t>
            </a:r>
            <a:endParaRPr lang="en-US" sz="1200" dirty="0"/>
          </a:p>
        </p:txBody>
      </p:sp>
      <p:sp>
        <p:nvSpPr>
          <p:cNvPr id="12" name="Text 10"/>
          <p:cNvSpPr/>
          <p:nvPr/>
        </p:nvSpPr>
        <p:spPr>
          <a:xfrm>
            <a:off x="6362700" y="3548360"/>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Konsistenz</a:t>
            </a:r>
            <a:endParaRPr lang="en-US" sz="1800" dirty="0"/>
          </a:p>
        </p:txBody>
      </p:sp>
      <p:sp>
        <p:nvSpPr>
          <p:cNvPr id="13" name="Shape 11"/>
          <p:cNvSpPr/>
          <p:nvPr/>
        </p:nvSpPr>
        <p:spPr>
          <a:xfrm>
            <a:off x="8858250" y="310009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14" name="Text 12"/>
          <p:cNvSpPr/>
          <p:nvPr/>
        </p:nvSpPr>
        <p:spPr>
          <a:xfrm>
            <a:off x="9042400" y="328424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04</a:t>
            </a:r>
            <a:endParaRPr lang="en-US" sz="1200" dirty="0"/>
          </a:p>
        </p:txBody>
      </p:sp>
      <p:sp>
        <p:nvSpPr>
          <p:cNvPr id="15" name="Text 13"/>
          <p:cNvSpPr/>
          <p:nvPr/>
        </p:nvSpPr>
        <p:spPr>
          <a:xfrm>
            <a:off x="9042400" y="3548360"/>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Index</a:t>
            </a:r>
            <a:endParaRPr lang="en-US" sz="1800" dirty="0"/>
          </a:p>
        </p:txBody>
      </p:sp>
      <p:sp>
        <p:nvSpPr>
          <p:cNvPr id="16" name="Shape 14"/>
          <p:cNvSpPr/>
          <p:nvPr/>
        </p:nvSpPr>
        <p:spPr>
          <a:xfrm>
            <a:off x="819150" y="417190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17" name="Text 15"/>
          <p:cNvSpPr/>
          <p:nvPr/>
        </p:nvSpPr>
        <p:spPr>
          <a:xfrm>
            <a:off x="1003300" y="435605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05</a:t>
            </a:r>
            <a:endParaRPr lang="en-US" sz="1200" dirty="0"/>
          </a:p>
        </p:txBody>
      </p:sp>
      <p:sp>
        <p:nvSpPr>
          <p:cNvPr id="18" name="Text 16"/>
          <p:cNvSpPr/>
          <p:nvPr/>
        </p:nvSpPr>
        <p:spPr>
          <a:xfrm>
            <a:off x="1003300" y="4620171"/>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Transaktion</a:t>
            </a:r>
            <a:endParaRPr lang="en-US" sz="1800" dirty="0"/>
          </a:p>
        </p:txBody>
      </p:sp>
      <p:sp>
        <p:nvSpPr>
          <p:cNvPr id="19" name="Shape 17"/>
          <p:cNvSpPr/>
          <p:nvPr/>
        </p:nvSpPr>
        <p:spPr>
          <a:xfrm>
            <a:off x="3498850" y="417190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20" name="Text 18"/>
          <p:cNvSpPr/>
          <p:nvPr/>
        </p:nvSpPr>
        <p:spPr>
          <a:xfrm>
            <a:off x="3683000" y="435605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06</a:t>
            </a:r>
            <a:endParaRPr lang="en-US" sz="1200" dirty="0"/>
          </a:p>
        </p:txBody>
      </p:sp>
      <p:sp>
        <p:nvSpPr>
          <p:cNvPr id="21" name="Text 19"/>
          <p:cNvSpPr/>
          <p:nvPr/>
        </p:nvSpPr>
        <p:spPr>
          <a:xfrm>
            <a:off x="3683000" y="4620171"/>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Kopien</a:t>
            </a:r>
            <a:endParaRPr lang="en-US" sz="1800" dirty="0"/>
          </a:p>
        </p:txBody>
      </p:sp>
      <p:sp>
        <p:nvSpPr>
          <p:cNvPr id="22" name="Shape 20"/>
          <p:cNvSpPr/>
          <p:nvPr/>
        </p:nvSpPr>
        <p:spPr>
          <a:xfrm>
            <a:off x="6178550" y="417190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23" name="Text 21"/>
          <p:cNvSpPr/>
          <p:nvPr/>
        </p:nvSpPr>
        <p:spPr>
          <a:xfrm>
            <a:off x="6362700" y="435605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07</a:t>
            </a:r>
            <a:endParaRPr lang="en-US" sz="1200" dirty="0"/>
          </a:p>
        </p:txBody>
      </p:sp>
      <p:sp>
        <p:nvSpPr>
          <p:cNvPr id="24" name="Text 22"/>
          <p:cNvSpPr/>
          <p:nvPr/>
        </p:nvSpPr>
        <p:spPr>
          <a:xfrm>
            <a:off x="6362700" y="4620171"/>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Schema</a:t>
            </a:r>
            <a:endParaRPr lang="en-US" sz="1800" dirty="0"/>
          </a:p>
        </p:txBody>
      </p:sp>
      <p:sp>
        <p:nvSpPr>
          <p:cNvPr id="25" name="Text 23"/>
          <p:cNvSpPr/>
          <p:nvPr/>
        </p:nvSpPr>
        <p:spPr>
          <a:xfrm>
            <a:off x="8858250" y="4171900"/>
            <a:ext cx="2514600" cy="906711"/>
          </a:xfrm>
          <a:prstGeom prst="roundRect">
            <a:avLst>
              <a:gd name="adj" fmla="val 4902"/>
            </a:avLst>
          </a:prstGeom>
          <a:noFill/>
          <a:ln w="12700">
            <a:solidFill>
              <a:srgbClr val="3A8378"/>
            </a:solidFill>
            <a:prstDash val="dash"/>
          </a:ln>
        </p:spPr>
        <p:txBody>
          <a:bodyPr wrap="square" lIns="171131" tIns="171131" rIns="106742" bIns="171131" rtlCol="0" anchor="ctr">
            <a:normAutofit/>
          </a:bodyPr>
          <a:lstStyle/>
          <a:p>
            <a:pPr marL="0" indent="0" algn="l">
              <a:lnSpc>
                <a:spcPts val="1755"/>
              </a:lnSpc>
              <a:buNone/>
            </a:pPr>
            <a:r>
              <a:rPr lang="en-US" sz="1300" dirty="0">
                <a:solidFill>
                  <a:srgbClr val="C9DAD6"/>
                </a:solidFill>
                <a:latin typeface="IBM Plex Sans" pitchFamily="34" charset="0"/>
                <a:ea typeface="IBM Plex Sans" pitchFamily="34" charset="-122"/>
                <a:cs typeface="IBM Plex Sans" pitchFamily="34" charset="-120"/>
              </a:rPr>
              <a:t>Jede Zahl wird beim Klick gemessen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514C"/>
                </a:solidFill>
                <a:latin typeface="IBM Plex Sans" pitchFamily="34" charset="0"/>
                <a:ea typeface="IBM Plex Sans" pitchFamily="34" charset="-122"/>
                <a:cs typeface="IBM Plex Sans" pitchFamily="34" charset="-120"/>
              </a:rPr>
              <a:t>Gemessen im laufenden System</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2889250"/>
        </p:xfrm>
        <a:graphic>
          <a:graphicData uri="http://schemas.openxmlformats.org/drawingml/2006/table">
            <a:tbl>
              <a:tblPr/>
              <a:tblGrid>
                <a:gridCol w="2743962">
                  <a:extLst>
                    <a:ext uri="{9D8B030D-6E8A-4147-A177-3AD203B41FA5}">
                      <a16:colId xmlns:a16="http://schemas.microsoft.com/office/drawing/2014/main" val="20000"/>
                    </a:ext>
                  </a:extLst>
                </a:gridCol>
                <a:gridCol w="7809738">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1E2221"/>
                          </a:solidFill>
                          <a:latin typeface="IBM Plex Sans" pitchFamily="34" charset="0"/>
                          <a:ea typeface="IBM Plex Sans" pitchFamily="34" charset="-122"/>
                          <a:cs typeface="IBM Plex Sans" pitchFamily="34" charset="-120"/>
                        </a:rPr>
                        <a:t>Experiment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B0B9B7"/>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0B9B7"/>
                      </a:solidFill>
                      <a:prstDash val="solid"/>
                      <a:round/>
                      <a:headEnd type="none" w="med" len="med"/>
                      <a:tailEnd type="none" w="med" len="med"/>
                    </a:lnB>
                    <a:solidFill>
                      <a:srgbClr val="DCE8E5"/>
                    </a:solidFill>
                  </a:tcPr>
                </a:tc>
                <a:tc>
                  <a:txBody>
                    <a:bodyPr/>
                    <a:lstStyle/>
                    <a:p>
                      <a:pPr marL="0" indent="0">
                        <a:lnSpc>
                          <a:spcPts val="2100"/>
                        </a:lnSpc>
                        <a:buNone/>
                      </a:pPr>
                      <a:r>
                        <a:rPr lang="en-US" sz="1500" b="1" dirty="0">
                          <a:solidFill>
                            <a:srgbClr val="1E2221"/>
                          </a:solidFill>
                          <a:latin typeface="IBM Plex Sans" pitchFamily="34" charset="0"/>
                          <a:ea typeface="IBM Plex Sans" pitchFamily="34" charset="-122"/>
                          <a:cs typeface="IBM Plex Sans" pitchFamily="34" charset="-120"/>
                        </a:rPr>
                        <a:t>Ergebnis</a:t>
                      </a:r>
                      <a:endParaRPr lang="en-US" sz="1500" dirty="0">
                        <a:latin typeface="IBM Plex Sans" charset="0"/>
                        <a:ea typeface="IBM Plex Sans" charset="0"/>
                        <a:cs typeface="IBM Plex Sans" charset="0"/>
                      </a:endParaRPr>
                    </a:p>
                  </a:txBody>
                  <a:tcPr marL="66675" marR="66675" marT="66675" marB="66675">
                    <a:lnL w="12700" cap="flat" cmpd="sng" algn="ctr">
                      <a:solidFill>
                        <a:srgbClr val="B0B9B7"/>
                      </a:solidFill>
                      <a:prstDash val="solid"/>
                      <a:round/>
                      <a:headEnd type="none" w="med" len="med"/>
                      <a:tailEnd type="none" w="med" len="med"/>
                    </a:lnL>
                    <a:lnR w="12700" cap="flat" cmpd="sng" algn="ctr">
                      <a:solidFill>
                        <a:srgbClr val="B0B9B7"/>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0B9B7"/>
                      </a:solidFill>
                      <a:prstDash val="solid"/>
                      <a:round/>
                      <a:headEnd type="none" w="med" len="med"/>
                      <a:tailEnd type="none" w="med" len="med"/>
                    </a:lnB>
                    <a:solidFill>
                      <a:srgbClr val="DCE8E5"/>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Failover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0B9B7"/>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neuer Primary nach 10,3 s, danach Schreiben in 10,6 ms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0B9B7"/>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Konsistenz</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w: 1 + Secondary: 48 von 50 veraltet · majority: 0 von 50</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Redis-Cache</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186,6 ms aus MongoDB, 0,3 ms aus Redis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Index</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13 statt 16.040 gelesene Dokumente</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Transaktion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Abbruch nach Schritt 3: nichts gespeichert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Kopien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ohne Pflege zeigt der Vertrag den alten Namen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E"/>
                </a:solidFill>
                <a:latin typeface="IBM Plex Sans" pitchFamily="34" charset="0"/>
                <a:ea typeface="IBM Plex Sans" pitchFamily="34" charset="-122"/>
                <a:cs typeface="IBM Plex Sans" pitchFamily="34" charset="-120"/>
              </a:rPr>
              <a:t>Lokal gemessen (Docker, ein Rechner) · nicht auf echte Netzwerklatenz übertragbar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514C"/>
                </a:solidFill>
                <a:latin typeface="IBM Plex Sans" pitchFamily="34" charset="0"/>
                <a:ea typeface="IBM Plex Sans" pitchFamily="34" charset="-122"/>
                <a:cs typeface="IBM Plex Sans" pitchFamily="34" charset="-120"/>
              </a:rPr>
              <a:t>Fünf Kriterien für MongoDB, vier für SQL</a:t>
            </a:r>
            <a:endParaRPr lang="en-US" sz="3200" dirty="0"/>
          </a:p>
        </p:txBody>
      </p:sp>
      <p:sp>
        <p:nvSpPr>
          <p:cNvPr id="3" name="Shape 1"/>
          <p:cNvSpPr/>
          <p:nvPr/>
        </p:nvSpPr>
        <p:spPr>
          <a:xfrm>
            <a:off x="812800" y="1584920"/>
            <a:ext cx="5156200" cy="2454275"/>
          </a:xfrm>
          <a:prstGeom prst="roundRect">
            <a:avLst>
              <a:gd name="adj" fmla="val 1035"/>
            </a:avLst>
          </a:prstGeom>
          <a:solidFill>
            <a:srgbClr val="FBFAF7"/>
          </a:solidFill>
          <a:ln/>
        </p:spPr>
        <p:txBody>
          <a:bodyPr/>
          <a:lstStyle/>
          <a:p>
            <a:endParaRPr lang="de-DE"/>
          </a:p>
        </p:txBody>
      </p:sp>
      <p:sp>
        <p:nvSpPr>
          <p:cNvPr id="4" name="Shape 2"/>
          <p:cNvSpPr/>
          <p:nvPr/>
        </p:nvSpPr>
        <p:spPr>
          <a:xfrm>
            <a:off x="812800" y="1584920"/>
            <a:ext cx="5156200" cy="2454275"/>
          </a:xfrm>
          <a:custGeom>
            <a:avLst/>
            <a:gdLst/>
            <a:ahLst/>
            <a:cxnLst/>
            <a:rect l="l" t="t" r="r" b="b"/>
            <a:pathLst>
              <a:path w="5156200" h="2454275">
                <a:moveTo>
                  <a:pt x="0" y="38100"/>
                </a:moveTo>
                <a:lnTo>
                  <a:pt x="0" y="25400"/>
                </a:lnTo>
                <a:arcTo wR="25400" hR="25400" stAng="10800000" swAng="5400000"/>
                <a:lnTo>
                  <a:pt x="5130800" y="0"/>
                </a:lnTo>
                <a:arcTo wR="25400" hR="25400" stAng="16200000" swAng="5400000"/>
                <a:lnTo>
                  <a:pt x="5156200" y="38100"/>
                </a:lnTo>
                <a:lnTo>
                  <a:pt x="0" y="38100"/>
                </a:lnTo>
                <a:close/>
              </a:path>
            </a:pathLst>
          </a:custGeom>
          <a:solidFill>
            <a:srgbClr val="17514C"/>
          </a:solidFill>
          <a:ln/>
        </p:spPr>
        <p:txBody>
          <a:bodyPr/>
          <a:lstStyle/>
          <a:p>
            <a:endParaRPr lang="de-DE"/>
          </a:p>
        </p:txBody>
      </p:sp>
      <p:sp>
        <p:nvSpPr>
          <p:cNvPr id="5" name="Text 3"/>
          <p:cNvSpPr/>
          <p:nvPr/>
        </p:nvSpPr>
        <p:spPr>
          <a:xfrm>
            <a:off x="1066800" y="1877020"/>
            <a:ext cx="478764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514C"/>
                </a:solidFill>
                <a:latin typeface="IBM Plex Sans" pitchFamily="34" charset="0"/>
                <a:ea typeface="IBM Plex Sans" pitchFamily="34" charset="-122"/>
                <a:cs typeface="IBM Plex Sans" pitchFamily="34" charset="-120"/>
              </a:rPr>
              <a:t>Für MongoDB</a:t>
            </a:r>
            <a:endParaRPr lang="en-US" sz="2000" dirty="0"/>
          </a:p>
        </p:txBody>
      </p:sp>
      <p:sp>
        <p:nvSpPr>
          <p:cNvPr id="6" name="Text 4"/>
          <p:cNvSpPr/>
          <p:nvPr/>
        </p:nvSpPr>
        <p:spPr>
          <a:xfrm>
            <a:off x="1137920" y="2308820"/>
            <a:ext cx="4708906" cy="1501775"/>
          </a:xfrm>
          <a:prstGeom prst="rect">
            <a:avLst/>
          </a:prstGeom>
          <a:noFill/>
          <a:ln/>
        </p:spPr>
        <p:txBody>
          <a:bodyPr wrap="square" lIns="0" tIns="0" rIns="0" bIns="0" rtlCol="0" anchor="t">
            <a:normAutofit/>
          </a:bodyPr>
          <a:lstStyle/>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Uneinheitliche Daten ohne leere Spalten</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Vertrag in einem Zugriff statt vier Joins</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Neue Felder ohne Migration</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Failover eingebaut</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Sharding eingebaut (hier nicht nötig)</a:t>
            </a:r>
            <a:endParaRPr lang="en-US" sz="1500" dirty="0"/>
          </a:p>
        </p:txBody>
      </p:sp>
      <p:sp>
        <p:nvSpPr>
          <p:cNvPr id="7" name="Shape 5"/>
          <p:cNvSpPr/>
          <p:nvPr/>
        </p:nvSpPr>
        <p:spPr>
          <a:xfrm>
            <a:off x="6223000" y="1584920"/>
            <a:ext cx="5156200" cy="2454275"/>
          </a:xfrm>
          <a:prstGeom prst="roundRect">
            <a:avLst>
              <a:gd name="adj" fmla="val 1035"/>
            </a:avLst>
          </a:prstGeom>
          <a:solidFill>
            <a:srgbClr val="FBFAF7"/>
          </a:solidFill>
          <a:ln/>
        </p:spPr>
        <p:txBody>
          <a:bodyPr/>
          <a:lstStyle/>
          <a:p>
            <a:endParaRPr lang="de-DE"/>
          </a:p>
        </p:txBody>
      </p:sp>
      <p:sp>
        <p:nvSpPr>
          <p:cNvPr id="8" name="Shape 6"/>
          <p:cNvSpPr/>
          <p:nvPr/>
        </p:nvSpPr>
        <p:spPr>
          <a:xfrm>
            <a:off x="6223000" y="1584920"/>
            <a:ext cx="5156200" cy="2454275"/>
          </a:xfrm>
          <a:custGeom>
            <a:avLst/>
            <a:gdLst/>
            <a:ahLst/>
            <a:cxnLst/>
            <a:rect l="l" t="t" r="r" b="b"/>
            <a:pathLst>
              <a:path w="5156200" h="2454275">
                <a:moveTo>
                  <a:pt x="0" y="38100"/>
                </a:moveTo>
                <a:lnTo>
                  <a:pt x="0" y="25400"/>
                </a:lnTo>
                <a:arcTo wR="25400" hR="25400" stAng="10800000" swAng="5400000"/>
                <a:lnTo>
                  <a:pt x="5130800" y="0"/>
                </a:lnTo>
                <a:arcTo wR="25400" hR="25400" stAng="16200000" swAng="5400000"/>
                <a:lnTo>
                  <a:pt x="5156200" y="38100"/>
                </a:lnTo>
                <a:lnTo>
                  <a:pt x="0" y="38100"/>
                </a:lnTo>
                <a:close/>
              </a:path>
            </a:pathLst>
          </a:custGeom>
          <a:solidFill>
            <a:srgbClr val="8A3F14"/>
          </a:solidFill>
          <a:ln/>
        </p:spPr>
        <p:txBody>
          <a:bodyPr/>
          <a:lstStyle/>
          <a:p>
            <a:endParaRPr lang="de-DE"/>
          </a:p>
        </p:txBody>
      </p:sp>
      <p:sp>
        <p:nvSpPr>
          <p:cNvPr id="9" name="Text 7"/>
          <p:cNvSpPr/>
          <p:nvPr/>
        </p:nvSpPr>
        <p:spPr>
          <a:xfrm>
            <a:off x="6477000" y="1877020"/>
            <a:ext cx="478764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8A3F14"/>
                </a:solidFill>
                <a:latin typeface="IBM Plex Sans" pitchFamily="34" charset="0"/>
                <a:ea typeface="IBM Plex Sans" pitchFamily="34" charset="-122"/>
                <a:cs typeface="IBM Plex Sans" pitchFamily="34" charset="-120"/>
              </a:rPr>
              <a:t>Für SQL</a:t>
            </a:r>
            <a:endParaRPr lang="en-US" sz="2000" dirty="0"/>
          </a:p>
        </p:txBody>
      </p:sp>
      <p:sp>
        <p:nvSpPr>
          <p:cNvPr id="10" name="Text 8"/>
          <p:cNvSpPr/>
          <p:nvPr/>
        </p:nvSpPr>
        <p:spPr>
          <a:xfrm>
            <a:off x="6548120" y="2308820"/>
            <a:ext cx="4708906" cy="1206500"/>
          </a:xfrm>
          <a:prstGeom prst="rect">
            <a:avLst/>
          </a:prstGeom>
          <a:noFill/>
          <a:ln/>
        </p:spPr>
        <p:txBody>
          <a:bodyPr wrap="square" lIns="0" tIns="0" rIns="0" bIns="0" rtlCol="0" anchor="t">
            <a:normAutofit/>
          </a:bodyPr>
          <a:lstStyle/>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Fremdschlüssel sichern die Integrität</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Normalisiert: keine Kopien zu pflegen</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Transaktionen sind Standard</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Auswertungen über Tabellen einfacher</a:t>
            </a:r>
            <a:endParaRPr lang="en-US" sz="1500" dirty="0"/>
          </a:p>
        </p:txBody>
      </p:sp>
      <p:sp>
        <p:nvSpPr>
          <p:cNvPr id="11" name="Text 9"/>
          <p:cNvSpPr/>
          <p:nvPr/>
        </p:nvSpPr>
        <p:spPr>
          <a:xfrm>
            <a:off x="812800" y="4343995"/>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E2221"/>
                </a:solidFill>
                <a:latin typeface="IBM Plex Sans" pitchFamily="34" charset="0"/>
                <a:ea typeface="IBM Plex Sans" pitchFamily="34" charset="-122"/>
                <a:cs typeface="IBM Plex Sans" pitchFamily="34" charset="-120"/>
              </a:rPr>
              <a:t>Im Alltag überwiegen Zugriffe auf ganze Einheiten. Genau die bedient das Dokumentmodell.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40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9FC3BC"/>
                </a:solidFill>
                <a:latin typeface="IBM Plex Sans" pitchFamily="34" charset="0"/>
                <a:ea typeface="IBM Plex Sans" pitchFamily="34" charset="-122"/>
                <a:cs typeface="IBM Plex Sans" pitchFamily="34" charset="-120"/>
              </a:rPr>
              <a:t>FAZIT</a:t>
            </a:r>
            <a:endParaRPr lang="en-US" sz="1400" dirty="0"/>
          </a:p>
        </p:txBody>
      </p:sp>
      <p:sp>
        <p:nvSpPr>
          <p:cNvPr id="3" name="Text 1"/>
          <p:cNvSpPr>
            <a:spLocks noGrp="1"/>
          </p:cNvSpPr>
          <p:nvPr>
            <p:ph type="title"/>
          </p:nvPr>
        </p:nvSpPr>
        <p:spPr>
          <a:xfrm>
            <a:off x="812800" y="2359720"/>
            <a:ext cx="10883392" cy="1163241"/>
          </a:xfrm>
          <a:prstGeom prst="rect">
            <a:avLst/>
          </a:prstGeom>
          <a:noFill/>
          <a:ln/>
        </p:spPr>
        <p:txBody>
          <a:bodyPr wrap="square" lIns="0" tIns="0" rIns="0" bIns="0" rtlCol="0" anchor="t">
            <a:normAutofit/>
          </a:bodyPr>
          <a:lstStyle/>
          <a:p>
            <a:pPr marL="0" indent="0" algn="l">
              <a:lnSpc>
                <a:spcPts val="4480"/>
              </a:lnSpc>
              <a:buNone/>
            </a:pPr>
            <a:r>
              <a:rPr lang="en-US" sz="4000" b="1" i="0" dirty="0">
                <a:solidFill>
                  <a:srgbClr val="F5F3EE"/>
                </a:solidFill>
                <a:latin typeface="IBM Plex Sans" pitchFamily="34" charset="0"/>
                <a:ea typeface="IBM Plex Sans" pitchFamily="34" charset="-122"/>
                <a:cs typeface="IBM Plex Sans" pitchFamily="34" charset="-120"/>
              </a:rPr>
              <a:t>MongoDB für den Kern, Redis für Tempo, SQL wenn Berichte wachsen</a:t>
            </a:r>
            <a:endParaRPr lang="en-US" sz="4000" dirty="0"/>
          </a:p>
        </p:txBody>
      </p:sp>
      <p:sp>
        <p:nvSpPr>
          <p:cNvPr id="4" name="Text 2"/>
          <p:cNvSpPr/>
          <p:nvPr/>
        </p:nvSpPr>
        <p:spPr>
          <a:xfrm>
            <a:off x="812800" y="3751560"/>
            <a:ext cx="10883392" cy="66546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AD6"/>
                </a:solidFill>
                <a:latin typeface="IBM Plex Sans" pitchFamily="34" charset="0"/>
                <a:ea typeface="IBM Plex Sans" pitchFamily="34" charset="-122"/>
                <a:cs typeface="IBM Plex Sans" pitchFamily="34" charset="-120"/>
              </a:rPr>
              <a:t>Die Kerndaten einer Mietverwaltung sind Dokumente. Der Preis: Integrität und Kopien liegen in der Verantwortung der Anwendung.</a:t>
            </a:r>
            <a:endParaRPr lang="en-US" sz="1800" dirty="0"/>
          </a:p>
        </p:txBody>
      </p:sp>
      <p:sp>
        <p:nvSpPr>
          <p:cNvPr id="5" name="Text 3"/>
          <p:cNvSpPr/>
          <p:nvPr/>
        </p:nvSpPr>
        <p:spPr>
          <a:xfrm>
            <a:off x="812800" y="568960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5F3EE"/>
                </a:solidFill>
                <a:latin typeface="IBM Plex Sans" pitchFamily="34" charset="0"/>
                <a:ea typeface="IBM Plex Sans" pitchFamily="34" charset="-122"/>
                <a:cs typeface="IBM Plex Sans" pitchFamily="34" charset="-120"/>
              </a:rPr>
              <a:t>Fragen?</a:t>
            </a:r>
            <a:endParaRPr lang="en-US" sz="2000" dirty="0"/>
          </a:p>
        </p:txBody>
      </p:sp>
    </p:spTree>
  </p:cSld>
  <p:clrMapOvr>
    <a:masterClrMapping/>
  </p:clrMapOvr>
</p:sld>
</file>

<file path=ppt/theme/theme1.xml><?xml version="1.0" encoding="utf-8"?>
<a:theme xmlns:a="http://schemas.openxmlformats.org/drawingml/2006/main" name="Mietverwaltung mit MongoDB und Redis">
  <a:themeElements>
    <a:clrScheme name="Mietverwaltung mit MongoDB und Redis">
      <a:dk1>
        <a:srgbClr val="17514C"/>
      </a:dk1>
      <a:lt1>
        <a:srgbClr val="F5F3EE"/>
      </a:lt1>
      <a:dk2>
        <a:srgbClr val="4F7A75"/>
      </a:dk2>
      <a:lt2>
        <a:srgbClr val="DFE3DE"/>
      </a:lt2>
      <a:accent1>
        <a:srgbClr val="6E3210"/>
      </a:accent1>
      <a:accent2>
        <a:srgbClr val="8A3F14"/>
      </a:accent2>
      <a:accent3>
        <a:srgbClr val="1E2221"/>
      </a:accent3>
      <a:accent4>
        <a:srgbClr val="9FC3BC"/>
      </a:accent4>
      <a:accent5>
        <a:srgbClr val="56605E"/>
      </a:accent5>
      <a:accent6>
        <a:srgbClr val="3C4645"/>
      </a:accent6>
      <a:hlink>
        <a:srgbClr val="0563C1"/>
      </a:hlink>
      <a:folHlink>
        <a:srgbClr val="954F72"/>
      </a:folHlink>
    </a:clrScheme>
    <a:fontScheme name="Mietverwaltung mit MongoDB und Redi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1573</Words>
  <Application>Microsoft Macintosh PowerPoint</Application>
  <PresentationFormat>Breitbild</PresentationFormat>
  <Paragraphs>141</Paragraphs>
  <Slides>10</Slides>
  <Notes>10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10</vt:i4>
      </vt:variant>
    </vt:vector>
  </HeadingPairs>
  <TitlesOfParts>
    <vt:vector size="14" baseType="lpstr">
      <vt:lpstr>Arial</vt:lpstr>
      <vt:lpstr>IBM Plex Mono</vt:lpstr>
      <vt:lpstr>IBM Plex Sans</vt:lpstr>
      <vt:lpstr>Mietverwaltung mit MongoDB und Redis</vt:lpstr>
      <vt:lpstr>Mietverwaltung mit MongoDB und Redis</vt:lpstr>
      <vt:lpstr>Die Mietverwaltung besteht aus Dokumenten</vt:lpstr>
      <vt:lpstr>Eine App, zwei NoSQL-Systeme</vt:lpstr>
      <vt:lpstr>Echte Inserate, fiktive Personen</vt:lpstr>
      <vt:lpstr>Ein Vertrag ist ein Dokument</vt:lpstr>
      <vt:lpstr>Rundgang durch die App</vt:lpstr>
      <vt:lpstr>NoSQL-Labor: sieben Experimente</vt:lpstr>
      <vt:lpstr>Gemessen im laufenden System</vt:lpstr>
      <vt:lpstr>Fünf Kriterien für MongoDB, vier für SQL</vt:lpstr>
      <vt:lpstr>MongoDB für den Kern, Redis für Tempo, SQL wenn Berichte wachsen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Mietverwaltung mit MongoDB und Redis</dc:title>
  <dc:subject/>
  <dc:creator/>
  <cp:lastModifiedBy>Barut, Jiyan</cp:lastModifiedBy>
  <cp:revision>2</cp:revision>
  <dcterms:created xsi:type="dcterms:W3CDTF">2026-10-01T13:29:28Z</dcterms:created>
  <dcterms:modified xsi:type="dcterms:W3CDTF">2026-10-01T13:55:12Z</dcterms:modified>
</cp:coreProperties>
</file>